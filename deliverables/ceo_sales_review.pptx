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 ($M)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10.5</c:v>
                </c:pt>
                <c:pt idx="1">
                  <c:v>10.4</c:v>
                </c:pt>
                <c:pt idx="2">
                  <c:v>11.56</c:v>
                </c:pt>
                <c:pt idx="3">
                  <c:v>12.79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Margin ($M)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4.3</c:v>
                </c:pt>
                <c:pt idx="1">
                  <c:v>4.28</c:v>
                </c:pt>
                <c:pt idx="2">
                  <c:v>4.75</c:v>
                </c:pt>
                <c:pt idx="3">
                  <c:v>4.78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Store contribution ($M)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1.34</c:v>
                </c:pt>
                <c:pt idx="1">
                  <c:v>1.18</c:v>
                </c:pt>
                <c:pt idx="2">
                  <c:v>1.56</c:v>
                </c:pt>
                <c:pt idx="3">
                  <c:v>1.43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Furniture GM% — landed cost (actual)</c:v>
                </c:pt>
              </c:strCache>
            </c:strRef>
          </c:tx>
          <c:cat>
            <c:strRef>
              <c:f>Sheet1!$A$2:$A$25</c:f>
              <c:strCache>
                <c:ptCount val="24"/>
                <c:pt idx="0">
                  <c:v>2021-01</c:v>
                </c:pt>
                <c:pt idx="1">
                  <c:v>2021-02</c:v>
                </c:pt>
                <c:pt idx="2">
                  <c:v>2021-03</c:v>
                </c:pt>
                <c:pt idx="3">
                  <c:v>2021-04</c:v>
                </c:pt>
                <c:pt idx="4">
                  <c:v>2021-05</c:v>
                </c:pt>
                <c:pt idx="5">
                  <c:v>2021-06</c:v>
                </c:pt>
                <c:pt idx="6">
                  <c:v>2021-07</c:v>
                </c:pt>
                <c:pt idx="7">
                  <c:v>2021-08</c:v>
                </c:pt>
                <c:pt idx="8">
                  <c:v>2021-09</c:v>
                </c:pt>
                <c:pt idx="9">
                  <c:v>2021-10</c:v>
                </c:pt>
                <c:pt idx="10">
                  <c:v>2021-11</c:v>
                </c:pt>
                <c:pt idx="11">
                  <c:v>2021-12</c:v>
                </c:pt>
                <c:pt idx="12">
                  <c:v>2022-01</c:v>
                </c:pt>
                <c:pt idx="13">
                  <c:v>2022-02</c:v>
                </c:pt>
                <c:pt idx="14">
                  <c:v>2022-03</c:v>
                </c:pt>
                <c:pt idx="15">
                  <c:v>2022-04</c:v>
                </c:pt>
                <c:pt idx="16">
                  <c:v>2022-05</c:v>
                </c:pt>
                <c:pt idx="17">
                  <c:v>2022-06</c:v>
                </c:pt>
                <c:pt idx="18">
                  <c:v>2022-07</c:v>
                </c:pt>
                <c:pt idx="19">
                  <c:v>2022-08</c:v>
                </c:pt>
                <c:pt idx="20">
                  <c:v>2022-09</c:v>
                </c:pt>
                <c:pt idx="21">
                  <c:v>2022-10</c:v>
                </c:pt>
                <c:pt idx="22">
                  <c:v>2022-11</c:v>
                </c:pt>
                <c:pt idx="23">
                  <c:v>2022-12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28.1</c:v>
                </c:pt>
                <c:pt idx="1">
                  <c:v>32.0</c:v>
                </c:pt>
                <c:pt idx="2">
                  <c:v>32.5</c:v>
                </c:pt>
                <c:pt idx="3">
                  <c:v>32.6</c:v>
                </c:pt>
                <c:pt idx="4">
                  <c:v>31.4</c:v>
                </c:pt>
                <c:pt idx="5">
                  <c:v>33.8</c:v>
                </c:pt>
                <c:pt idx="6">
                  <c:v>33.4</c:v>
                </c:pt>
                <c:pt idx="7">
                  <c:v>32.8</c:v>
                </c:pt>
                <c:pt idx="8">
                  <c:v>31.9</c:v>
                </c:pt>
                <c:pt idx="9">
                  <c:v>32.2</c:v>
                </c:pt>
                <c:pt idx="10">
                  <c:v>33.8</c:v>
                </c:pt>
                <c:pt idx="11">
                  <c:v>32.3</c:v>
                </c:pt>
                <c:pt idx="12">
                  <c:v>4.1</c:v>
                </c:pt>
                <c:pt idx="13">
                  <c:v>8.2</c:v>
                </c:pt>
                <c:pt idx="14">
                  <c:v>8.7</c:v>
                </c:pt>
                <c:pt idx="15">
                  <c:v>7.5</c:v>
                </c:pt>
                <c:pt idx="16">
                  <c:v>5.9</c:v>
                </c:pt>
                <c:pt idx="17">
                  <c:v>11.0</c:v>
                </c:pt>
                <c:pt idx="18">
                  <c:v>7.8</c:v>
                </c:pt>
                <c:pt idx="19">
                  <c:v>6.2</c:v>
                </c:pt>
                <c:pt idx="20">
                  <c:v>7.1</c:v>
                </c:pt>
                <c:pt idx="21">
                  <c:v>7.2</c:v>
                </c:pt>
                <c:pt idx="22">
                  <c:v>8.7</c:v>
                </c:pt>
                <c:pt idx="23">
                  <c:v>6.8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Furniture GM% — standard cost (budget view)</c:v>
                </c:pt>
              </c:strCache>
            </c:strRef>
          </c:tx>
          <c:cat>
            <c:strRef>
              <c:f>Sheet1!$A$2:$A$25</c:f>
              <c:strCache>
                <c:ptCount val="24"/>
                <c:pt idx="0">
                  <c:v>2021-01</c:v>
                </c:pt>
                <c:pt idx="1">
                  <c:v>2021-02</c:v>
                </c:pt>
                <c:pt idx="2">
                  <c:v>2021-03</c:v>
                </c:pt>
                <c:pt idx="3">
                  <c:v>2021-04</c:v>
                </c:pt>
                <c:pt idx="4">
                  <c:v>2021-05</c:v>
                </c:pt>
                <c:pt idx="5">
                  <c:v>2021-06</c:v>
                </c:pt>
                <c:pt idx="6">
                  <c:v>2021-07</c:v>
                </c:pt>
                <c:pt idx="7">
                  <c:v>2021-08</c:v>
                </c:pt>
                <c:pt idx="8">
                  <c:v>2021-09</c:v>
                </c:pt>
                <c:pt idx="9">
                  <c:v>2021-10</c:v>
                </c:pt>
                <c:pt idx="10">
                  <c:v>2021-11</c:v>
                </c:pt>
                <c:pt idx="11">
                  <c:v>2021-12</c:v>
                </c:pt>
                <c:pt idx="12">
                  <c:v>2022-01</c:v>
                </c:pt>
                <c:pt idx="13">
                  <c:v>2022-02</c:v>
                </c:pt>
                <c:pt idx="14">
                  <c:v>2022-03</c:v>
                </c:pt>
                <c:pt idx="15">
                  <c:v>2022-04</c:v>
                </c:pt>
                <c:pt idx="16">
                  <c:v>2022-05</c:v>
                </c:pt>
                <c:pt idx="17">
                  <c:v>2022-06</c:v>
                </c:pt>
                <c:pt idx="18">
                  <c:v>2022-07</c:v>
                </c:pt>
                <c:pt idx="19">
                  <c:v>2022-08</c:v>
                </c:pt>
                <c:pt idx="20">
                  <c:v>2022-09</c:v>
                </c:pt>
                <c:pt idx="21">
                  <c:v>2022-10</c:v>
                </c:pt>
                <c:pt idx="22">
                  <c:v>2022-11</c:v>
                </c:pt>
                <c:pt idx="23">
                  <c:v>2022-12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28.1</c:v>
                </c:pt>
                <c:pt idx="1">
                  <c:v>32.0</c:v>
                </c:pt>
                <c:pt idx="2">
                  <c:v>32.5</c:v>
                </c:pt>
                <c:pt idx="3">
                  <c:v>32.5</c:v>
                </c:pt>
                <c:pt idx="4">
                  <c:v>31.4</c:v>
                </c:pt>
                <c:pt idx="5">
                  <c:v>33.7</c:v>
                </c:pt>
                <c:pt idx="6">
                  <c:v>33.3</c:v>
                </c:pt>
                <c:pt idx="7">
                  <c:v>32.8</c:v>
                </c:pt>
                <c:pt idx="8">
                  <c:v>31.9</c:v>
                </c:pt>
                <c:pt idx="9">
                  <c:v>32.2</c:v>
                </c:pt>
                <c:pt idx="10">
                  <c:v>33.6</c:v>
                </c:pt>
                <c:pt idx="11">
                  <c:v>32.3</c:v>
                </c:pt>
                <c:pt idx="12">
                  <c:v>21.5</c:v>
                </c:pt>
                <c:pt idx="13">
                  <c:v>24.0</c:v>
                </c:pt>
                <c:pt idx="14">
                  <c:v>23.9</c:v>
                </c:pt>
                <c:pt idx="15">
                  <c:v>24.3</c:v>
                </c:pt>
                <c:pt idx="16">
                  <c:v>23.8</c:v>
                </c:pt>
                <c:pt idx="17">
                  <c:v>24.3</c:v>
                </c:pt>
                <c:pt idx="18">
                  <c:v>24.1</c:v>
                </c:pt>
                <c:pt idx="19">
                  <c:v>22.7</c:v>
                </c:pt>
                <c:pt idx="20">
                  <c:v>22.8</c:v>
                </c:pt>
                <c:pt idx="21">
                  <c:v>23.2</c:v>
                </c:pt>
                <c:pt idx="22">
                  <c:v>22.9</c:v>
                </c:pt>
                <c:pt idx="23">
                  <c:v>23.4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Price effect ($k)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Household</c:v>
                </c:pt>
                <c:pt idx="1">
                  <c:v>Dining</c:v>
                </c:pt>
                <c:pt idx="2">
                  <c:v>Kitchen</c:v>
                </c:pt>
                <c:pt idx="3">
                  <c:v>Furniture</c:v>
                </c:pt>
                <c:pt idx="4">
                  <c:v>Electronics</c:v>
                </c:pt>
                <c:pt idx="5">
                  <c:v>Sports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101</c:v>
                </c:pt>
                <c:pt idx="1">
                  <c:v>83</c:v>
                </c:pt>
                <c:pt idx="2">
                  <c:v>60</c:v>
                </c:pt>
                <c:pt idx="3">
                  <c:v>-4</c:v>
                </c:pt>
                <c:pt idx="4">
                  <c:v>-193</c:v>
                </c:pt>
                <c:pt idx="5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Volume effect ($k)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Household</c:v>
                </c:pt>
                <c:pt idx="1">
                  <c:v>Dining</c:v>
                </c:pt>
                <c:pt idx="2">
                  <c:v>Kitchen</c:v>
                </c:pt>
                <c:pt idx="3">
                  <c:v>Furniture</c:v>
                </c:pt>
                <c:pt idx="4">
                  <c:v>Electronics</c:v>
                </c:pt>
                <c:pt idx="5">
                  <c:v>Sports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228</c:v>
                </c:pt>
                <c:pt idx="1">
                  <c:v>172</c:v>
                </c:pt>
                <c:pt idx="2">
                  <c:v>145</c:v>
                </c:pt>
                <c:pt idx="3">
                  <c:v>202</c:v>
                </c:pt>
                <c:pt idx="4">
                  <c:v>380</c:v>
                </c:pt>
                <c:pt idx="5">
                  <c:v>30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 2022 ($k)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West</c:v>
                </c:pt>
                <c:pt idx="1">
                  <c:v>Midwest</c:v>
                </c:pt>
                <c:pt idx="2">
                  <c:v>South</c:v>
                </c:pt>
                <c:pt idx="3">
                  <c:v>Northeast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7608</c:v>
                </c:pt>
                <c:pt idx="1">
                  <c:v>2042</c:v>
                </c:pt>
                <c:pt idx="2">
                  <c:v>1694</c:v>
                </c:pt>
                <c:pt idx="3">
                  <c:v>1435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Store contribution 2022 ($k)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West</c:v>
                </c:pt>
                <c:pt idx="1">
                  <c:v>Midwest</c:v>
                </c:pt>
                <c:pt idx="2">
                  <c:v>South</c:v>
                </c:pt>
                <c:pt idx="3">
                  <c:v>Northeast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1826</c:v>
                </c:pt>
                <c:pt idx="1">
                  <c:v>-150</c:v>
                </c:pt>
                <c:pt idx="2">
                  <c:v>-128</c:v>
                </c:pt>
                <c:pt idx="3">
                  <c:v>-121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two gems: Furniture landed-cost shock and store profitability. Everything else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2022 Sales Review: growing sales, not growing profit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CEO review + dbt transformation pipeline  |  Data: consolidated_transactions extract, Jan-2019 to Dec-2022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• Net Sales $12.79M in 2022, +10.7% YoY — but Gross Margin only +0.6%</a:t>
            </a:r>
          </a:p>
          <a:p>
            <a:pPr>
              <a:spcAft>
                <a:spcPts val="600"/>
              </a:spcAft>
              <a:defRPr sz="2000"/>
            </a:pPr>
            <a:r>
              <a:t>• Two issues the board should see: Furniture is now sold at ~cost, and 63% of stores lose money after direct opex</a:t>
            </a:r>
          </a:p>
          <a:p>
            <a:pPr>
              <a:spcAft>
                <a:spcPts val="600"/>
              </a:spcAft>
              <a:defRPr sz="2000"/>
            </a:pPr>
            <a:r>
              <a:t>• All figures from dbt marts (fct_sales -&gt; mart_*), landed cost basis, store opex treated as annual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Executive summary — recommendations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• 1. Fix Furniture pricing / sourcing now. Landed cost per unit rose ~36% in Jan-2022, prices did not move. Furniture GM fell $659k -&gt; $167k ($-492k); GM% 32% -&gt; 7%.</a:t>
            </a:r>
          </a:p>
          <a:p>
            <a:pPr lvl="1">
              <a:spcAft>
                <a:spcPts val="600"/>
              </a:spcAft>
              <a:defRPr sz="1400"/>
            </a:pPr>
            <a:r>
              <a:t>– Restoring 2021 margin needs ~+36% price, or a supplier/freight renegotiation; otherwise review range depth.</a:t>
            </a:r>
          </a:p>
          <a:p>
            <a:pPr>
              <a:spcAft>
                <a:spcPts val="600"/>
              </a:spcAft>
              <a:defRPr sz="1600"/>
            </a:pPr>
            <a:r>
              <a:t>• 2. Report margin on landed cost, not standard cost. On standard cost 2022 GM looks $5.12M (+8%); actual is $4.78M (+0.6%). The $346k gap is invisible in the budget view.</a:t>
            </a:r>
          </a:p>
          <a:p>
            <a:pPr>
              <a:spcAft>
                <a:spcPts val="600"/>
              </a:spcAft>
              <a:defRPr sz="1600"/>
            </a:pPr>
            <a:r>
              <a:t>• 3. Store portfolio review. 182 of 287 stores lose money after direct opex ($-1,002k). The West (CA) generates &gt;100% of store contribution; Northeast turned negative in 2022.</a:t>
            </a:r>
          </a:p>
          <a:p>
            <a:pPr lvl="1">
              <a:spcAft>
                <a:spcPts val="600"/>
              </a:spcAft>
              <a:defRPr sz="1400"/>
            </a:pPr>
            <a:r>
              <a:t>– Pause openings outside proven markets: new stores lost $127k in their first year (2022).</a:t>
            </a:r>
          </a:p>
          <a:p>
            <a:pPr>
              <a:spcAft>
                <a:spcPts val="600"/>
              </a:spcAft>
              <a:defRPr sz="1600"/>
            </a:pPr>
            <a:r>
              <a:t>• 4. Growth is volume-led: +$1,156k volume vs +$63k price. ASP growth is decelerating (+5.0%, +2.5%, +1.0%).</a:t>
            </a:r>
          </a:p>
          <a:p>
            <a:pPr>
              <a:spcAft>
                <a:spcPts val="600"/>
              </a:spcAft>
              <a:defRPr sz="1600"/>
            </a:pPr>
            <a:r>
              <a:t>• 5. Investigate data/process issues: placeholder 'Unknown' store/product rows, manual-only returns, duplicate ingests.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Pipeline: staging -&gt; intermediate -&gt; marts (dbt + DuckDB)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uv run dbt build: 12 models, 23 tests, all passing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2926080"/>
            <a:ext cx="2011680" cy="1005840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raw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consolidated_transactions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509,480 rows, 24 cols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2834640"/>
            <a:ext cx="2286000" cy="1188720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stg_consolidated_transactions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snake_case, types, per-unit costs,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DQ flags (no rows dropped)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0" y="1463040"/>
            <a:ext cx="2194560" cy="914400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int_transactions_deduped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1 row / transaction_id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2651760"/>
            <a:ext cx="2194560" cy="914400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int_product_attributes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1 row / product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3840480"/>
            <a:ext cx="2194560" cy="914400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int_store_attributes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1 row / store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5029200"/>
            <a:ext cx="2194560" cy="914400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int_transactions_keyed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key repair, unknown members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920240"/>
            <a:ext cx="1828800" cy="914400"/>
          </a:xfrm>
          <a:prstGeom prst="roundRect">
            <a:avLst/>
          </a:prstGeom>
          <a:solidFill>
            <a:srgbClr val="D6E4F0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dim_product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108960"/>
            <a:ext cx="1828800" cy="914400"/>
          </a:xfrm>
          <a:prstGeom prst="roundRect">
            <a:avLst/>
          </a:prstGeom>
          <a:solidFill>
            <a:srgbClr val="D6E4F0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dim_store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4297680"/>
            <a:ext cx="1828800" cy="914400"/>
          </a:xfrm>
          <a:prstGeom prst="roundRect">
            <a:avLst/>
          </a:prstGeom>
          <a:solidFill>
            <a:srgbClr val="D6E4F0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fct_sales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grain: transaction 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463040"/>
            <a:ext cx="2194560" cy="91440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mart_kpi_yearly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0" y="2651760"/>
            <a:ext cx="2194560" cy="91440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mart_product_yearly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3840480"/>
            <a:ext cx="2194560" cy="91440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mart_store_yearly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5029200"/>
            <a:ext cx="2194560" cy="91440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mart_sales_monthly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1722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• staging: views (cheap, always fresh)  |  intermediate: views  |  marts: tables (what the deck and BI read)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051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• intermediate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1051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• marts: star schema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051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• marts: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How the extract was normalised &amp; why the mart layer looks like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Grain decision: one fct_sales row per transaction_id (after dedup) = one sales line (month x store x product, qty, price)</a:t>
            </a:r>
          </a:p>
          <a:p>
            <a:pPr lvl="1">
              <a:spcAft>
                <a:spcPts val="600"/>
              </a:spcAft>
              <a:defRPr sz="1300"/>
            </a:pPr>
            <a:r>
              <a:t>– Measures stored additive: net_sales, cogs_landed, cogs_standard, gross_margin(_standard) -&gt; safe to SUM at any level</a:t>
            </a:r>
          </a:p>
          <a:p>
            <a:pPr>
              <a:spcAft>
                <a:spcPts val="600"/>
              </a:spcAft>
              <a:defRPr sz="1500"/>
            </a:pPr>
            <a:r>
              <a:t>• Dimensions pulled out of the repeated attributes: dim_product (17 + unknown), dim_store (287 + unknown)</a:t>
            </a:r>
          </a:p>
          <a:p>
            <a:pPr lvl="1">
              <a:spcAft>
                <a:spcPts val="600"/>
              </a:spcAft>
              <a:defRPr sz="1300"/>
            </a:pPr>
            <a:r>
              <a:t>– Conformed 'unknown' member (-1) instead of dropping orphans -&gt; relationships tests pass, totals reconcile to source</a:t>
            </a:r>
          </a:p>
          <a:p>
            <a:pPr>
              <a:spcAft>
                <a:spcPts val="600"/>
              </a:spcAft>
              <a:defRPr sz="1500"/>
            </a:pPr>
            <a:r>
              <a:t>• Two-tier mart layer:</a:t>
            </a:r>
          </a:p>
          <a:p>
            <a:pPr lvl="1">
              <a:spcAft>
                <a:spcPts val="600"/>
              </a:spcAft>
              <a:defRPr sz="1300"/>
            </a:pPr>
            <a:r>
              <a:t>– Star schema (dim_product, dim_store, fct_sales) = reusable source of truth for any BI / ad-hoc question</a:t>
            </a:r>
          </a:p>
          <a:p>
            <a:pPr lvl="1">
              <a:spcAft>
                <a:spcPts val="600"/>
              </a:spcAft>
              <a:defRPr sz="1300"/>
            </a:pPr>
            <a:r>
              <a:t>– Reporting marts at CEO grains (year, product-year, store-year, month x category x region) with YoY abs/%, price metrics and price/volume bridge pre-computed — the deck reads only these</a:t>
            </a:r>
          </a:p>
          <a:p>
            <a:pPr>
              <a:spcAft>
                <a:spcPts val="600"/>
              </a:spcAft>
              <a:defRPr sz="1500"/>
            </a:pPr>
            <a:r>
              <a:t>• Why: metric logic (YoY, opex allocation, PVM) lives once in SQL, tested; slides cannot drift from the model</a:t>
            </a:r>
          </a:p>
          <a:p>
            <a:pPr>
              <a:spcAft>
                <a:spcPts val="600"/>
              </a:spcAft>
              <a:defRPr sz="1500"/>
            </a:pPr>
            <a:r>
              <a:t>• Rejected: one wide 'OBT' mart (reintroduces the attribute conflicts), and putting YoY in Python (untestable, duplicated)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Data-quality issues found and how each was handled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Nothing silently dropped: every rule is flagged in fct_sales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344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931920"/>
                <a:gridCol w="3108960"/>
                <a:gridCol w="256032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Alternative rejected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Duplicate transaction_id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9,815 ids x2 rows; same date/store/product/qty/price, differ in lineage &amp;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Keep latest ingested_at, tie-break POS&gt;ERP&gt;Manual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Sum both (double counts $0.90M sales)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Cost per pack vs per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Dining pack_size=2: unit_cost/price = 117% (sold below cost?)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unit/standard cost ÷ pack_size; landed already per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Multiply by pack_size (makes it worse)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3 competing cost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Equal until 2022; Furniture landed +36% vs 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Landed = margin basis; standard kept as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Standard (Finance) hides the 2022 cost shock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Missing keys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1,310 product ids, 1,308 store ids null; names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Recover by name (store: name+state if 1:1)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Drop rows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Placeholder 99901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100 Manual rows Jun-2022, 'Unknown' store+product; 85 ingested before txn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Map to unknown member -1,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Treat as a real store/product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Conflicting store attrs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Stores 211/212 MD split NE/South; store 50 '(restated)' opex 10x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MD -&gt; South (Census); opex = 4-yr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Latest row wins (10x opex error)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Product name conflict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Product 19 'Cosmetics' vs catalog 'Vanities' every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Keep transaction name, catalog alias retained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Split into 2 products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Negative quantities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4,907 lines, Manual source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Keep as returns (net sales net of returns)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Exclude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Definitions and sensitivity to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Net Sales = quantity x unit_price (returns negative). Gross Margin = Net Sales - quantity x landed cost per unit.</a:t>
            </a:r>
          </a:p>
          <a:p>
            <a:pPr>
              <a:spcAft>
                <a:spcPts val="600"/>
              </a:spcAft>
              <a:defRPr sz="1500"/>
            </a:pPr>
            <a:r>
              <a:t>• Profitability = Store contribution = Gross Margin - direct store opex (annual, per active store). No central costs in data.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651760"/>
          <a:ext cx="6858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Landed cost (chosen)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Standard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Difference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Gross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$4.78M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$5.12M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$346k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GM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37.4%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GM YoY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+0.6%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+8.1%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Opex annual vs monthly: monthly x12 = $40M opex vs $12.8M sales -&gt; every store loses money; not credible -&gt; annual.</a:t>
            </a:r>
          </a:p>
          <a:p>
            <a:pPr>
              <a:spcAft>
                <a:spcPts val="600"/>
              </a:spcAft>
              <a:defRPr sz="1400"/>
            </a:pPr>
            <a:r>
              <a:t>• Opex is a full-year charge even for stores opened mid-year -&gt; first-year losses slightly overstated.</a:t>
            </a:r>
          </a:p>
          <a:p>
            <a:pPr>
              <a:spcAft>
                <a:spcPts val="600"/>
              </a:spcAft>
              <a:defRPr sz="1400"/>
            </a:pPr>
            <a:r>
              <a:t>• Dedup rule choice does not change sales or landed-cost GM (both identical within every duplicate pair).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Q1: Sales are growing ~11% a year — profit is not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2022: Net Sales +10.7%, Gross Margin +0.6%, Store contribution -8.2%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371600"/>
          <a:ext cx="5212080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3020"/>
                <a:gridCol w="1303020"/>
                <a:gridCol w="1303020"/>
                <a:gridCol w="1303020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2022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Net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$10.40M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$11.56M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$12.79M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$-99k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$1,156k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$1,232k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+10.7%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Gross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$4.28M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$4.75M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$4.78M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$-19k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$472k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$28k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+0.6%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GM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37.4%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Store 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$1.18M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$1.56M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$1.43M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$-160k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$378k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$-128k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-8.2%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Avg selling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$31.39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$32.18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$32.49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Gem #1: Furniture margin collapsed in Jan-2022 — prices were never adjusted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Landed cost per unit +36% overnight; price -0.3%. Standard-cost reporting does not show it.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498079" y="1371600"/>
          <a:ext cx="44805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48640"/>
                <a:gridCol w="640080"/>
                <a:gridCol w="685800"/>
                <a:gridCol w="640080"/>
                <a:gridCol w="59436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GM%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GM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GM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Price YoY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Cost YoY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Dining Furniture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$102k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$313k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+36.4%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Bathroom Furniture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$36k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$198k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-2.0%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+36.4%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Wardrobes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$29k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$148k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-1.4%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+36.4%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310896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Furniture: $2,242k sales (+10%) but GM $659k -&gt; $167k</a:t>
            </a:r>
          </a:p>
          <a:p>
            <a:pPr>
              <a:spcAft>
                <a:spcPts val="600"/>
              </a:spcAft>
              <a:defRPr sz="1300"/>
            </a:pPr>
            <a:r>
              <a:t>• Explains the whole gap between sales growth (+10.7%) and GM growth (+0.6%)</a:t>
            </a:r>
          </a:p>
          <a:p>
            <a:pPr>
              <a:spcAft>
                <a:spcPts val="600"/>
              </a:spcAft>
              <a:defRPr sz="1300"/>
            </a:pPr>
            <a:r>
              <a:t>• Action: reprice (~+36% to restore), renegotiate freight/supplier, or cut range; flag to Finance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Q3: 2022 growth drivers — volume, not price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Price/volume bridge from mart_product_yearly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Total 2022 Net Sales +$1.22M = +$1.16M volume (+9.6% units) + $0.06M price</a:t>
            </a:r>
          </a:p>
          <a:p>
            <a:pPr>
              <a:spcAft>
                <a:spcPts val="600"/>
              </a:spcAft>
              <a:defRPr sz="1300"/>
            </a:pPr>
            <a:r>
              <a:t>• Existing stores delivered +$1.12M; 14 new stores only $0.09M</a:t>
            </a:r>
          </a:p>
          <a:p>
            <a:pPr>
              <a:spcAft>
                <a:spcPts val="600"/>
              </a:spcAft>
              <a:defRPr sz="1300"/>
            </a:pPr>
            <a:r>
              <a:t>• Price derivatives:</a:t>
            </a:r>
          </a:p>
          <a:p>
            <a:pPr lvl="1">
              <a:spcAft>
                <a:spcPts val="600"/>
              </a:spcAft>
              <a:defRPr sz="1100"/>
            </a:pPr>
            <a:r>
              <a:t>– ASP growth decelerating: +5.0% (2020), +2.5%, +1.0% (2022)</a:t>
            </a:r>
          </a:p>
          <a:p>
            <a:pPr lvl="1">
              <a:spcAft>
                <a:spcPts val="600"/>
              </a:spcAft>
              <a:defRPr sz="1100"/>
            </a:pPr>
            <a:r>
              <a:t>– Electronics cut prices 5-7% in line with 7% cost decline -&gt; GM% held, volume +12%</a:t>
            </a:r>
          </a:p>
          <a:p>
            <a:pPr lvl="1">
              <a:spcAft>
                <a:spcPts val="600"/>
              </a:spcAft>
              <a:defRPr sz="1100"/>
            </a:pPr>
            <a:r>
              <a:t>– Household/Kitchen/Dining/Sports: price +3-4% vs landed cost +2.9% -&gt; healthy price-cost spread</a:t>
            </a:r>
          </a:p>
          <a:p>
            <a:pPr lvl="1">
              <a:spcAft>
                <a:spcPts val="600"/>
              </a:spcAft>
              <a:defRPr sz="1100"/>
            </a:pPr>
            <a:r>
              <a:t>– Furniture: price -0.3% vs cost +36% -&gt; spread turned to ~zero</a:t>
            </a:r>
          </a:p>
          <a:p>
            <a:pPr lvl="1">
              <a:spcAft>
                <a:spcPts val="600"/>
              </a:spcAft>
              <a:defRPr sz="1100"/>
            </a:pPr>
            <a:r>
              <a:t>– GM per unit 2022 vs 2021: Furniture fell most; track 'price-cost spread' monthly per category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Gem #2: 182 of 287 stores lose money after direct opex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The West (mainly California) carries the business; Northeast turned negative in 2022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371600"/>
          <a:ext cx="56692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512064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Stores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Loss-making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Midwest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Northeast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371600"/>
          <a:ext cx="5577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97280"/>
                <a:gridCol w="1005840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stores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Contrib.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YoY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Los Angeles,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$1,035k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$527k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+8.6%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 Francisco,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$463k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$238k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+15.0%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 Diego,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$506k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$235k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+10.4%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 Jose,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$437k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$226k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+19.6%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New York City, 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$655k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$90k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-10.5%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338328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Top products 2022: Computers $2.0M, Dinnerware $1.8M, Cookware $1.7M (by GM: Dinnerware, Candles, Cookware)</a:t>
            </a:r>
          </a:p>
          <a:p>
            <a:pPr>
              <a:spcAft>
                <a:spcPts val="600"/>
              </a:spcAft>
              <a:defRPr sz="1300"/>
            </a:pPr>
            <a:r>
              <a:t>• Los Angeles alone = 8% of sales; top 4 CA stores = $1.2M contribution</a:t>
            </a:r>
          </a:p>
          <a:p>
            <a:pPr>
              <a:spcAft>
                <a:spcPts val="600"/>
              </a:spcAft>
              <a:defRPr sz="1300"/>
            </a:pPr>
            <a:r>
              <a:t>• NYC sales -10.5%, Northeast sales -9% in 2022 — investigate (competition? store issues?)</a:t>
            </a:r>
          </a:p>
          <a:p>
            <a:pPr>
              <a:spcAft>
                <a:spcPts val="600"/>
              </a:spcAft>
              <a:defRPr sz="1300"/>
            </a:pPr>
            <a:r>
              <a:t>• Long tail: many small Township/Borough stores with opex &gt; gross margin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Q4 &amp; Q5: How to grow profit, and what needs investigation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Profit levers (size of prize, 2022 base)</a:t>
            </a:r>
          </a:p>
          <a:p>
            <a:pPr lvl="1">
              <a:spcAft>
                <a:spcPts val="600"/>
              </a:spcAft>
              <a:defRPr sz="1300"/>
            </a:pPr>
            <a:r>
              <a:t>– Furniture price/cost fix: up to ~$0.49M GM (back to 2021 GM%)</a:t>
            </a:r>
          </a:p>
          <a:p>
            <a:pPr lvl="1">
              <a:spcAft>
                <a:spcPts val="600"/>
              </a:spcAft>
              <a:defRPr sz="1300"/>
            </a:pPr>
            <a:r>
              <a:t>– Store portfolio: 182 loss-making stores cost $1.0M; close/relocate worst decile, renegotiate leases, or test smaller formats</a:t>
            </a:r>
          </a:p>
          <a:p>
            <a:pPr lvl="1">
              <a:spcAft>
                <a:spcPts val="600"/>
              </a:spcAft>
              <a:defRPr sz="1300"/>
            </a:pPr>
            <a:r>
              <a:t>– Pricing discipline: pass through cost inflation category by category (price-cost spread KPI)</a:t>
            </a:r>
          </a:p>
          <a:p>
            <a:pPr lvl="1">
              <a:spcAft>
                <a:spcPts val="600"/>
              </a:spcAft>
              <a:defRPr sz="1300"/>
            </a:pPr>
            <a:r>
              <a:t>– Focus growth capital on West/CA format that works; gate new openings on a payback model</a:t>
            </a:r>
          </a:p>
          <a:p>
            <a:pPr>
              <a:spcAft>
                <a:spcPts val="600"/>
              </a:spcAft>
              <a:defRPr sz="1500"/>
            </a:pPr>
            <a:r>
              <a:t>• Issues to investigate</a:t>
            </a:r>
          </a:p>
          <a:p>
            <a:pPr lvl="1">
              <a:spcAft>
                <a:spcPts val="600"/>
              </a:spcAft>
              <a:defRPr sz="1300"/>
            </a:pPr>
            <a:r>
              <a:t>– 'Unknown' store/product 99901: 100 Manual lines, Jun-2022, $12.9k, ingested before the sale date</a:t>
            </a:r>
          </a:p>
          <a:p>
            <a:pPr lvl="1">
              <a:spcAft>
                <a:spcPts val="600"/>
              </a:spcAft>
              <a:defRPr sz="1300"/>
            </a:pPr>
            <a:r>
              <a:t>– Returns only ever recorded via Manual source — POS/ERP returns missing? Returns value +21% in 2022</a:t>
            </a:r>
          </a:p>
          <a:p>
            <a:pPr lvl="1">
              <a:spcAft>
                <a:spcPts val="600"/>
              </a:spcAft>
              <a:defRPr sz="1300"/>
            </a:pPr>
            <a:r>
              <a:t>– 9,815 duplicate ingests across systems; cost values differ between copies</a:t>
            </a:r>
          </a:p>
          <a:p>
            <a:pPr lvl="1">
              <a:spcAft>
                <a:spcPts val="600"/>
              </a:spcAft>
              <a:defRPr sz="1300"/>
            </a:pPr>
            <a:r>
              <a:t>– Store master data: region conflicts (MD), 10x opex restatement (store 50), duplicate store names (Wayne, IN)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Assumptions, trade-offs, and what I would do with more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• Assumptions: monthly grain is the economic date; landed cost = true cost; opex annual &amp; fully charged to active stores</a:t>
            </a:r>
          </a:p>
          <a:p>
            <a:pPr>
              <a:spcAft>
                <a:spcPts val="600"/>
              </a:spcAft>
              <a:defRPr sz="1600"/>
            </a:pPr>
            <a:r>
              <a:t>• Trade-offs: mode() for conflicting attributes (simple, explainable) instead of SCD2 history; views for staging/intermediate</a:t>
            </a:r>
          </a:p>
          <a:p>
            <a:pPr>
              <a:spcAft>
                <a:spcPts val="600"/>
              </a:spcAft>
              <a:defRPr sz="1600"/>
            </a:pPr>
            <a:r>
              <a:t>• Not done (time): incremental fct_sales, SCD2 dim_store / dim_product with effective dates, unit tests on dedup rule,</a:t>
            </a:r>
          </a:p>
          <a:p>
            <a:pPr lvl="1">
              <a:spcAft>
                <a:spcPts val="600"/>
              </a:spcAft>
              <a:defRPr sz="1400"/>
            </a:pPr>
            <a:r>
              <a:t>– dbt source freshness &amp; DQ dashboards, mix effect split inside volume, store-level like-for-like with partial years</a:t>
            </a:r>
          </a:p>
          <a:p>
            <a:pPr>
              <a:spcAft>
                <a:spcPts val="600"/>
              </a:spcAft>
              <a:defRPr sz="1600"/>
            </a:pPr>
            <a:r>
              <a:t>• Next: confirm Furniture landed-cost change with AP/Ops; agree one margin definition with Finance; store P&amp;L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