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($M)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10.5</c:v>
                </c:pt>
                <c:pt idx="1">
                  <c:v>10.4</c:v>
                </c:pt>
                <c:pt idx="2">
                  <c:v>11.56</c:v>
                </c:pt>
                <c:pt idx="3">
                  <c:v>12.79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($M)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</c:v>
                </c:pt>
                <c:pt idx="1">
                  <c:v>4.28</c:v>
                </c:pt>
                <c:pt idx="2">
                  <c:v>4.75</c:v>
                </c:pt>
                <c:pt idx="3">
                  <c:v>4.78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Store contribution ($M)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1.34</c:v>
                </c:pt>
                <c:pt idx="1">
                  <c:v>1.18</c:v>
                </c:pt>
                <c:pt idx="2">
                  <c:v>1.56</c:v>
                </c:pt>
                <c:pt idx="3">
                  <c:v>1.43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 ($k)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Household</c:v>
                </c:pt>
                <c:pt idx="1">
                  <c:v>Dining</c:v>
                </c:pt>
                <c:pt idx="2">
                  <c:v>Kitchen</c:v>
                </c:pt>
                <c:pt idx="3">
                  <c:v>Furniture</c:v>
                </c:pt>
                <c:pt idx="4">
                  <c:v>Electronics</c:v>
                </c:pt>
                <c:pt idx="5">
                  <c:v>Sports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228</c:v>
                </c:pt>
                <c:pt idx="1">
                  <c:v>172</c:v>
                </c:pt>
                <c:pt idx="2">
                  <c:v>145</c:v>
                </c:pt>
                <c:pt idx="3">
                  <c:v>202</c:v>
                </c:pt>
                <c:pt idx="4">
                  <c:v>380</c:v>
                </c:pt>
                <c:pt idx="5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Location mix, mainly California ($k)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Household</c:v>
                </c:pt>
                <c:pt idx="1">
                  <c:v>Dining</c:v>
                </c:pt>
                <c:pt idx="2">
                  <c:v>Kitchen</c:v>
                </c:pt>
                <c:pt idx="3">
                  <c:v>Furniture</c:v>
                </c:pt>
                <c:pt idx="4">
                  <c:v>Electronics</c:v>
                </c:pt>
                <c:pt idx="5">
                  <c:v>Sports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</c:v>
                </c:pt>
                <c:pt idx="1">
                  <c:v>14</c:v>
                </c:pt>
                <c:pt idx="2">
                  <c:v>9</c:v>
                </c:pt>
                <c:pt idx="3">
                  <c:v>26</c:v>
                </c:pt>
                <c:pt idx="4">
                  <c:v>60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Like-for-like price ($k)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Household</c:v>
                </c:pt>
                <c:pt idx="1">
                  <c:v>Dining</c:v>
                </c:pt>
                <c:pt idx="2">
                  <c:v>Kitchen</c:v>
                </c:pt>
                <c:pt idx="3">
                  <c:v>Furniture</c:v>
                </c:pt>
                <c:pt idx="4">
                  <c:v>Electronics</c:v>
                </c:pt>
                <c:pt idx="5">
                  <c:v>Sports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75</c:v>
                </c:pt>
                <c:pt idx="1">
                  <c:v>69</c:v>
                </c:pt>
                <c:pt idx="2">
                  <c:v>50</c:v>
                </c:pt>
                <c:pt idx="3">
                  <c:v>-29</c:v>
                </c:pt>
                <c:pt idx="4">
                  <c:v>-253</c:v>
                </c:pt>
                <c:pt idx="5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Dining Furniture: list price ÷ landed cost</c:v>
                </c:pt>
              </c:strCache>
            </c:strRef>
          </c:tx>
          <c:cat>
            <c:strRef>
              <c:f>Sheet1!$A$2:$A$25</c:f>
              <c:strCache>
                <c:ptCount val="24"/>
                <c:pt idx="0">
                  <c:v>2021-01</c:v>
                </c:pt>
                <c:pt idx="1">
                  <c:v>2021-02</c:v>
                </c:pt>
                <c:pt idx="2">
                  <c:v>2021-03</c:v>
                </c:pt>
                <c:pt idx="3">
                  <c:v>2021-04</c:v>
                </c:pt>
                <c:pt idx="4">
                  <c:v>2021-05</c:v>
                </c:pt>
                <c:pt idx="5">
                  <c:v>2021-06</c:v>
                </c:pt>
                <c:pt idx="6">
                  <c:v>2021-07</c:v>
                </c:pt>
                <c:pt idx="7">
                  <c:v>2021-08</c:v>
                </c:pt>
                <c:pt idx="8">
                  <c:v>2021-09</c:v>
                </c:pt>
                <c:pt idx="9">
                  <c:v>2021-10</c:v>
                </c:pt>
                <c:pt idx="10">
                  <c:v>2021-11</c:v>
                </c:pt>
                <c:pt idx="11">
                  <c:v>2021-12</c:v>
                </c:pt>
                <c:pt idx="12">
                  <c:v>2022-01</c:v>
                </c:pt>
                <c:pt idx="13">
                  <c:v>2022-02</c:v>
                </c:pt>
                <c:pt idx="14">
                  <c:v>2022-03</c:v>
                </c:pt>
                <c:pt idx="15">
                  <c:v>2022-04</c:v>
                </c:pt>
                <c:pt idx="16">
                  <c:v>2022-05</c:v>
                </c:pt>
                <c:pt idx="17">
                  <c:v>2022-06</c:v>
                </c:pt>
                <c:pt idx="18">
                  <c:v>2022-07</c:v>
                </c:pt>
                <c:pt idx="19">
                  <c:v>2022-08</c:v>
                </c:pt>
                <c:pt idx="20">
                  <c:v>2022-09</c:v>
                </c:pt>
                <c:pt idx="21">
                  <c:v>2022-10</c:v>
                </c:pt>
                <c:pt idx="22">
                  <c:v>2022-11</c:v>
                </c:pt>
                <c:pt idx="23">
                  <c:v>2022-12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2.12</c:v>
                </c:pt>
                <c:pt idx="1">
                  <c:v>2.12</c:v>
                </c:pt>
                <c:pt idx="2">
                  <c:v>2.12</c:v>
                </c:pt>
                <c:pt idx="3">
                  <c:v>2.12</c:v>
                </c:pt>
                <c:pt idx="4">
                  <c:v>2.12</c:v>
                </c:pt>
                <c:pt idx="5">
                  <c:v>2.12</c:v>
                </c:pt>
                <c:pt idx="6">
                  <c:v>2.12</c:v>
                </c:pt>
                <c:pt idx="7">
                  <c:v>2.12</c:v>
                </c:pt>
                <c:pt idx="8">
                  <c:v>2.12</c:v>
                </c:pt>
                <c:pt idx="9">
                  <c:v>2.12</c:v>
                </c:pt>
                <c:pt idx="10">
                  <c:v>2.12</c:v>
                </c:pt>
                <c:pt idx="11">
                  <c:v>2.12</c:v>
                </c:pt>
                <c:pt idx="12">
                  <c:v>1.56</c:v>
                </c:pt>
                <c:pt idx="13">
                  <c:v>1.56</c:v>
                </c:pt>
                <c:pt idx="14">
                  <c:v>1.56</c:v>
                </c:pt>
                <c:pt idx="15">
                  <c:v>1.56</c:v>
                </c:pt>
                <c:pt idx="16">
                  <c:v>1.56</c:v>
                </c:pt>
                <c:pt idx="17">
                  <c:v>1.56</c:v>
                </c:pt>
                <c:pt idx="18">
                  <c:v>1.56</c:v>
                </c:pt>
                <c:pt idx="19">
                  <c:v>1.56</c:v>
                </c:pt>
                <c:pt idx="20">
                  <c:v>1.56</c:v>
                </c:pt>
                <c:pt idx="21">
                  <c:v>1.56</c:v>
                </c:pt>
                <c:pt idx="22">
                  <c:v>1.56</c:v>
                </c:pt>
                <c:pt idx="23">
                  <c:v>1.56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1 and 2. Both are pricing decisions; 3 is the process fix; 4 is the warning against the obvious but wrong reading of the store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structural finding. Ranking regions without it makes the West look well run; it is priced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2022: sales grew 11%, profit did not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CEO sales review + dbt transformation pipeline  |  consolidated_transactions extract, Jan-2019 to Dec-2022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/>
            </a:pPr>
            <a:r>
              <a:t>• Net Sales $12.79M (+10.7%), Gross Margin $4.78M (+0.6%), store contribution $1.43M (-8.2%)</a:t>
            </a:r>
          </a:p>
          <a:p>
            <a:pPr>
              <a:spcAft>
                <a:spcPts val="500"/>
              </a:spcAft>
              <a:defRPr sz="2000"/>
            </a:pPr>
            <a:r>
              <a:t>• Growth came from volume and from more sales in California, not from pricing</a:t>
            </a:r>
          </a:p>
          <a:p>
            <a:pPr>
              <a:spcAft>
                <a:spcPts val="500"/>
              </a:spcAft>
              <a:defRPr sz="2000"/>
            </a:pPr>
            <a:r>
              <a:t>• Furniture cost rose ~36% in Jan-2022 and was never passed into prices: sold below cost outside California</a:t>
            </a:r>
          </a:p>
          <a:p>
            <a:pPr>
              <a:spcAft>
                <a:spcPts val="500"/>
              </a:spcAft>
              <a:defRPr sz="2000"/>
            </a:pPr>
            <a:r>
              <a:t>• Margin is set by the store price list: California earns 55.9% GM, the other price lists 23.6% or 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Executive summary — what the business should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/>
            </a:pPr>
            <a:r>
              <a:t>1. Restore Furniture pricing now. Landed cost rose ~36% in Jan-2022; list price fell. Furniture GM $659k -&gt; $167k. Restoring the 2021 margin is worth up to $556k a year (if volume holds; confirm the cost rise with AP/Ops first).</a:t>
            </a:r>
          </a:p>
          <a:p>
            <a:pPr>
              <a:spcAft>
                <a:spcPts val="500"/>
              </a:spcAft>
              <a:defRPr sz="1600"/>
            </a:pPr>
            <a:r>
              <a:t>2. Test higher prices outside California. California charges ~1.7x the base price list and still sells 43% more units per sq ft. Each +1% on the base list is ~$69k GM; a +5% rise pays off unless volume falls more than 17%.</a:t>
            </a:r>
          </a:p>
          <a:p>
            <a:pPr>
              <a:spcAft>
                <a:spcPts val="500"/>
              </a:spcAft>
              <a:defRPr sz="1600"/>
            </a:pPr>
            <a:r>
              <a:t>3. Report margin on landed cost and track price-vs-cost monthly. Standard cost shows 2022 GM +8.1%; actual is +0.6%. The pricing process passes cost through for every category except Furniture in 2022 — find out why it failed.</a:t>
            </a:r>
          </a:p>
          <a:p>
            <a:pPr>
              <a:spcAft>
                <a:spcPts val="500"/>
              </a:spcAft>
              <a:defRPr sz="1600"/>
            </a:pPr>
            <a:r>
              <a:t>4. Don't close stores on this evidence. 182 of 287 stores lose money after direct opex, but losses sit on the low price lists: 130 of 178 base and 31 of 33 Township stores vs 20 of 74 in California. Fix price first, then review the tail.</a:t>
            </a:r>
          </a:p>
          <a:p>
            <a:pPr>
              <a:spcAft>
                <a:spcPts val="500"/>
              </a:spcAft>
              <a:defRPr sz="1600"/>
            </a:pPr>
            <a:r>
              <a:t>5. Gate new openings: the 14 stores opened in 2022 lost $107k pro-rated in year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Pipeline: staging -&gt; intermediate -&gt; marts (dbt + DuckDB)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uv run dbt build: 17 models, 40 tests, all passing (incl. reconciliation tests)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2834640"/>
            <a:ext cx="1828800" cy="1005840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raw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consolidated_transactions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509,480 rows, 24 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2743200"/>
            <a:ext cx="2011680" cy="1188720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stg_consolidated_transactions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types, per-unit costs,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DQ flags (no rows dropped)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2194560" cy="713232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int_transactions_deduped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1 row / transaction_id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221992"/>
            <a:ext cx="2194560" cy="713232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int_product_attributes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1 row /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026664"/>
            <a:ext cx="2194560" cy="713232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int_store_attributes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1 row /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31336"/>
            <a:ext cx="2194560" cy="713232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int_transactions_keyed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key repair, unknown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636008"/>
            <a:ext cx="2194560" cy="713232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int_transaction_price_index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price vs list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440680"/>
            <a:ext cx="2194560" cy="713232"/>
          </a:xfrm>
          <a:prstGeom prst="roundRect">
            <a:avLst/>
          </a:prstGeom>
          <a:solidFill>
            <a:srgbClr val="EEF1F6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int_store_price_list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store's regular price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737360" cy="868680"/>
          </a:xfrm>
          <a:prstGeom prst="roundRect">
            <a:avLst/>
          </a:prstGeom>
          <a:solidFill>
            <a:srgbClr val="D6E4F0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dim_product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54679"/>
            <a:ext cx="1737360" cy="868680"/>
          </a:xfrm>
          <a:prstGeom prst="roundRect">
            <a:avLst/>
          </a:prstGeom>
          <a:solidFill>
            <a:srgbClr val="D6E4F0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dim_store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(+ price list)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206240"/>
            <a:ext cx="1737360" cy="868680"/>
          </a:xfrm>
          <a:prstGeom prst="roundRect">
            <a:avLst/>
          </a:prstGeom>
          <a:solidFill>
            <a:srgbClr val="D6E4F0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fct_sales</a:t>
            </a:r>
          </a:p>
          <a:p>
            <a:pPr>
              <a:defRPr sz="1000">
                <a:solidFill>
                  <a:srgbClr val="1F2A44"/>
                </a:solidFill>
              </a:defRPr>
            </a:pPr>
            <a:r>
              <a:t>grain: transaction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173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mart_kpi_yearly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1031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mart_product_yearly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7889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mart_store_yearly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4747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mart_price_list_yearly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41605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mart_sales_bridge_yearly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48463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mart_price_monthly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5532120"/>
            <a:ext cx="3017520" cy="594360"/>
          </a:xfrm>
          <a:prstGeom prst="roundRect">
            <a:avLst/>
          </a:prstGeom>
          <a:solidFill>
            <a:srgbClr val="D5F0DD"/>
          </a:solidFill>
          <a:ln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F2A44"/>
                </a:solidFill>
              </a:defRPr>
            </a:pPr>
            <a:r>
              <a:t>mart_sales_monthly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intermediate (views)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star schema (tables)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reporting marts (tables)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Normalisation and why the mart layer has two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• Grain: one fct_sales row per transaction_id (after dedup) = one sales line: month x store x product, qty, price</a:t>
            </a:r>
          </a:p>
          <a:p>
            <a:pPr lvl="1">
              <a:spcAft>
                <a:spcPts val="500"/>
              </a:spcAft>
              <a:defRPr sz="1300"/>
            </a:pPr>
            <a:r>
              <a:t>– Additive measures only (net_sales, cogs_landed, cogs_standard, gross_margin) -&gt; safe to sum at any level</a:t>
            </a:r>
          </a:p>
          <a:p>
            <a:pPr>
              <a:spcAft>
                <a:spcPts val="500"/>
              </a:spcAft>
              <a:defRPr sz="1500"/>
            </a:pPr>
            <a:r>
              <a:t>• Dimensions taken out of the repeated attributes: dim_product (16 + unknown), dim_store (287 + unknown)</a:t>
            </a:r>
          </a:p>
          <a:p>
            <a:pPr lvl="1">
              <a:spcAft>
                <a:spcPts val="500"/>
              </a:spcAft>
              <a:defRPr sz="1300"/>
            </a:pPr>
            <a:r>
              <a:t>– Unknown member (-1) instead of dropping orphans: totals reconcile to source, relationship tests pass</a:t>
            </a:r>
          </a:p>
          <a:p>
            <a:pPr lvl="1">
              <a:spcAft>
                <a:spcPts val="500"/>
              </a:spcAft>
              <a:defRPr sz="1300"/>
            </a:pPr>
            <a:r>
              <a:t>– Store price list derived from the data (price ÷ product-month list price) and stored on dim_store</a:t>
            </a:r>
          </a:p>
          <a:p>
            <a:pPr>
              <a:spcAft>
                <a:spcPts val="500"/>
              </a:spcAft>
              <a:defRPr sz="1500"/>
            </a:pPr>
            <a:r>
              <a:t>• Tier 1 star schema = the reusable source of truth for any question; Tier 2 reporting marts at the CEO's grains</a:t>
            </a:r>
          </a:p>
          <a:p>
            <a:pPr lvl="1">
              <a:spcAft>
                <a:spcPts val="500"/>
              </a:spcAft>
              <a:defRPr sz="1300"/>
            </a:pPr>
            <a:r>
              <a:t>– Business logic (YoY, opex basis, growth bridge, price health) is written once in SQL and tested; the deck only reads marts</a:t>
            </a:r>
          </a:p>
          <a:p>
            <a:pPr>
              <a:spcAft>
                <a:spcPts val="500"/>
              </a:spcAft>
              <a:defRPr sz="1500"/>
            </a:pPr>
            <a:r>
              <a:t>• Tests: keys, relationships, accepted values; source -&gt; fact and fact -&gt; mart reconciliation; bridge sums exactly; assumption tests (duplicates agree, name lookups map to one id, one landed cost per product-month, list price = California price)</a:t>
            </a:r>
          </a:p>
          <a:p>
            <a:pPr>
              <a:spcAft>
                <a:spcPts val="500"/>
              </a:spcAft>
              <a:defRPr sz="1500"/>
            </a:pPr>
            <a:r>
              <a:t>• Rejected: one wide reporting table (brings back the attribute conflicts); YoY and bridge logic in Python (untested, duplicated); SCD2 product history (effective dates contradict sales, e.g. Cosmetics sold from 2019 but effective from Jun-2020 -&gt; not trusted)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Data-quality issues and how each was handled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Nothing dropped silently: every rule is flagged in fct_sales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34440"/>
          <a:ext cx="116128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06240"/>
                <a:gridCol w="3017520"/>
                <a:gridCol w="2468880"/>
              </a:tblGrid>
              <a:tr h="475488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Alternative rejected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Duplicate transaction_id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9,815 ids x2; identical date/store/product/qty/price/landed cost (tested)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Keep latest ingested_at, tie-break POS&gt;ERP&gt;Manual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Sum both copies (double counts $0.90M sales)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Cost per pack vs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Dining pack_size=2: unit_cost / price = 117%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unit &amp; standard cost ÷ pack_size; landed is already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Multiply by pack_size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 competing cost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Landed: one value per product-month (tested). 2022 Furniture unit_cost = 0.68 x price on ~half the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Landed = margin basis; standard kept as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Standard (Finance): hides the 2022 cost rise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Missing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1,310 product ids, 1,308 store ids null; names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Recover by name (store: name + state where 1:1)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Drop the rows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Placeholder 99901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100 Manual rows Jun-2022, 'Unknown' store + product, ingested before sale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Unknown member -1, flagged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Treat as a real store / product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Conflicting store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Stores 211/212 (MD) split NE/South; store 50 '(restated)' opex 10x (0.82/sqft vs peers 0.11)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MD -&gt; South (Census); opex = 4-year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Latest row wins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Product name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Product 19 'Cosmetics' vs catalog 'Vanities' in every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Keep transaction name, keep alias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Split into two products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Negative quantities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4,907 lines, Manual source only; each matches an earlier 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Keep as returns (net sales are net of returns)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Exclude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Definitions, assumptions and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Net Sales = qty x unit_price (returns negative). Gross Margin = Net Sales - qty x landed cost per unit.</a:t>
            </a:r>
          </a:p>
          <a:p>
            <a:pPr>
              <a:spcAft>
                <a:spcPts val="500"/>
              </a:spcAft>
              <a:defRPr sz="1400"/>
            </a:pPr>
            <a:r>
              <a:t>• Profitability = store contribution = Gross Margin - direct store opex. No central costs in the data.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3108960"/>
                <a:gridCol w="30175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2022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Chosen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Alternative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Effect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Cost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Landed: GM $4.78M, 37.4%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Standard: GM $5.12M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$346k higher GM, hides Furniture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Opex: annual, full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Contribution $1.43M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Pro-rated to months traded: $1.45M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Small; loss-making stores 182 either way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Opex: annual vs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Monthly x12: -$35.37M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Every price list loses money -&gt; not credible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Dedup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Latest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POS first / first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No change to sales or landed GM (tested)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Assumptions: month is the economic date; landed cost is the true cost (confirm 2022 Furniture with AP/Ops); store losses are real, not a sampling effect (confirmed with the interviewer)</a:t>
            </a:r>
          </a:p>
          <a:p>
            <a:pPr>
              <a:spcAft>
                <a:spcPts val="500"/>
              </a:spcAft>
              <a:defRPr sz="1300"/>
            </a:pPr>
            <a:r>
              <a:t>• Trade-offs: most frequent value for conflicting attributes instead of history tables; views for staging/intermediate</a:t>
            </a:r>
          </a:p>
          <a:p>
            <a:pPr>
              <a:spcAft>
                <a:spcPts val="500"/>
              </a:spcAft>
              <a:defRPr sz="1300"/>
            </a:pPr>
            <a:r>
              <a:t>• With more time: split volume into new vs existing stores; promotion depth; incremental fct_sales; column docs; Dec-2022 may be ~1% incomplete (late-arriving rows)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Q1: sales are growing ~11% a year — profit is not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2022: Net Sales +10.7%, Gross Margin +0.6%, store contribution -8.2%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7160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371600"/>
          <a:ext cx="52120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2022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Net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$10.40M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$11.56M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$12.79M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YoY 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-$99k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$1,156k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$1,232k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YoY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+10.7%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$4.75M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$4.78M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YoY 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$472k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$28k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YoY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+0.6%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GM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37.4%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Store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$1.18M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$1.56M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$1.43M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YoY 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$378k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-$128k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  YoY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+32.0%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-8.2%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52120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2020 dip then two years of ~11% growth; GM % fell from 41.1% to 37.4% in 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Q3: 2022 growth came from volume and California — prices fell like-for-like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Net Sales +10.7% ($1,232k) = volume $1,156k + location mix $139k + like-for-like price -$76k + unknown product $13k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71600"/>
          <a:ext cx="62179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37160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Volume: units +9.5%</a:t>
            </a:r>
          </a:p>
          <a:p>
            <a:pPr>
              <a:spcAft>
                <a:spcPts val="500"/>
              </a:spcAft>
              <a:defRPr sz="1300"/>
            </a:pPr>
            <a:r>
              <a:t>• Location mix: California's share of sales rose 40.9% -&gt; 43.0%; at ~1.7x price that lifts the average price with no price change</a:t>
            </a:r>
          </a:p>
          <a:p>
            <a:pPr>
              <a:spcAft>
                <a:spcPts val="500"/>
              </a:spcAft>
              <a:defRPr sz="1300"/>
            </a:pPr>
            <a:r>
              <a:t>• Like-for-like price -$76k: Electronics prices -6.8% (following a -7.0% cost fall); other categories rose ~+3.0%, in line with cost (+2.9%)</a:t>
            </a:r>
          </a:p>
          <a:p>
            <a:pPr>
              <a:spcAft>
                <a:spcPts val="500"/>
              </a:spcAft>
              <a:defRPr sz="1300"/>
            </a:pPr>
            <a:r>
              <a:t>• Furniture: price -1.3% while landed cost rose +36.4%</a:t>
            </a:r>
          </a:p>
          <a:p>
            <a:pPr>
              <a:spcAft>
                <a:spcPts val="500"/>
              </a:spcAft>
              <a:defRPr sz="1300"/>
            </a:pPr>
            <a:r>
              <a:t>• Price-derived metrics: list markup over cost, like-for-like price change, price realisation, promotion share</a:t>
            </a:r>
          </a:p>
          <a:p>
            <a:pPr>
              <a:spcAft>
                <a:spcPts val="500"/>
              </a:spcAft>
              <a:defRPr sz="1300"/>
            </a:pPr>
            <a:r>
              <a:t>• Old method (product-level average price) counted the California shift as a price rise — replaced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Pricing is cost-plus, by price list — and California sells more at 1.7x the price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Price = list price (cost x fixed markup per product) x store price list x promotion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7223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1005840"/>
                <a:gridCol w="1188720"/>
                <a:gridCol w="731520"/>
                <a:gridCol w="100584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2022 price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Price vs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Units / 1k sq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GM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Loss-making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Premium (1.00)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$1,822k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 (0.59)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-$325k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Township (0.53)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017520"/>
            <a:ext cx="11430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Each product's markup over landed cost is identical in every month of 2019-2022 — except Furniture in 2022 (next slide)</a:t>
            </a:r>
          </a:p>
          <a:p>
            <a:pPr>
              <a:spcAft>
                <a:spcPts val="500"/>
              </a:spcAft>
              <a:defRPr sz="1400"/>
            </a:pPr>
            <a:r>
              <a:t>• List price moved exactly with cost: Household/Kitchen/Dining/Sports +2.9% vs cost +2.9% in 2022; Electronics -7.0% vs -7.0%</a:t>
            </a:r>
          </a:p>
          <a:p>
            <a:pPr>
              <a:spcAft>
                <a:spcPts val="500"/>
              </a:spcAft>
              <a:defRPr sz="1400"/>
            </a:pPr>
            <a:r>
              <a:t>• Price lists: all 74 California stores on 1.00; 178 stores on 0.59; all 33 Township stores on 0.53; 2 one-offs</a:t>
            </a:r>
          </a:p>
          <a:p>
            <a:pPr>
              <a:spcAft>
                <a:spcPts val="500"/>
              </a:spcAft>
              <a:defRPr sz="1400"/>
            </a:pPr>
            <a:r>
              <a:t>• Promotions in Jan, May, Sep, Dec only: ~12% of units in those months sold below the store's list</a:t>
            </a:r>
          </a:p>
          <a:p>
            <a:pPr>
              <a:spcAft>
                <a:spcPts val="500"/>
              </a:spcAft>
              <a:defRPr sz="1400"/>
            </a:pPr>
            <a:r>
              <a:t>• California sells 43% more units per sq ft than base stores at ~1.7x the price, every year since 2019 -&gt; no sign that price is holding volume back (California demand may differ: test, don't assume)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Furniture: a ~36% cost rise in Jan-2022 that pricing never passed on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Furniture GM $659k (2021) -&gt; $167k (2022); outside California it now sells below cost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716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371600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00584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Furniture by price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Price ÷ cost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Price ÷ cost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GM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GM 2022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Premium (1.00)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$442k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$336k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 (0.59)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$209k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-$151k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Township (0.53)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-$17k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30175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Furniture explains the GM gap: without it, 2022 GM +12.7% on sales +10.9%</a:t>
            </a:r>
          </a:p>
          <a:p>
            <a:pPr>
              <a:spcAft>
                <a:spcPts val="500"/>
              </a:spcAft>
              <a:defRPr sz="1300"/>
            </a:pPr>
            <a:r>
              <a:t>• Base-list stores went from $17k to -$325k contribution: Furniture GM there -$359k, everything else +$122k</a:t>
            </a:r>
          </a:p>
          <a:p>
            <a:pPr>
              <a:spcAft>
                <a:spcPts val="500"/>
              </a:spcAft>
              <a:defRPr sz="1300"/>
            </a:pPr>
            <a:r>
              <a:t>• Worth up to $556k a year to restore the 2021 margin (no volume response assumed)</a:t>
            </a:r>
          </a:p>
          <a:p>
            <a:pPr>
              <a:spcAft>
                <a:spcPts val="500"/>
              </a:spcAft>
              <a:defRPr sz="1300"/>
            </a:pPr>
            <a:r>
              <a:t>• Evidence the cost rise is real: one landed cost per month, markup otherwise fixed for 4 years. Not verified: confirm with AP/Ops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Q2: top performers — and why 182 of 287 stores lose money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Rank by gross margin and contribution, not sales; read store results through the price 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56692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822960"/>
                <a:gridCol w="100584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products 2022 (by GM)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GM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YoY sales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Dinnerware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$1,841k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$782k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+12.8%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Candles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$1,320k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$672k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+14.8%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Cookware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$1,722k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$668k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+13.5%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$2,016k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$633k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+9.0%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$956k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$398k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371600"/>
          <a:ext cx="55778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stores 2022 (contribution)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Contrib.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YoY sales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Los Angeles,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$1,035k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$527k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+8.6%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 Francisco,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$238k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+15.0%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 Diego,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$506k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+10.4%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 Jose,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$437k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$226k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+19.6%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New York City, 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$655k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-10.5%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657600"/>
          <a:ext cx="5669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463040"/>
                <a:gridCol w="1280160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Region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YoY sales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$7,608k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$1,826k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+13.9%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Midwest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$2,042k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+10.3%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$1,694k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+10.2%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Northeast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$1,435k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-$121k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-9.0%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365760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4 of the top 5 stores are in California: driven by price list, not only execution</a:t>
            </a:r>
          </a:p>
          <a:p>
            <a:pPr>
              <a:spcAft>
                <a:spcPts val="500"/>
              </a:spcAft>
              <a:defRPr sz="1200"/>
            </a:pPr>
            <a:r>
              <a:t>• 182 loss-making stores lose $1,002k in total; 130 of 178 base-list and 31 of 33 Township stores</a:t>
            </a:r>
          </a:p>
          <a:p>
            <a:pPr>
              <a:spcAft>
                <a:spcPts val="500"/>
              </a:spcAft>
              <a:defRPr sz="1200"/>
            </a:pPr>
            <a:r>
              <a:t>• Base-list GM % was 28.8% in 2021 and 23.6% in 2022: too thin to cover opex</a:t>
            </a:r>
          </a:p>
          <a:p>
            <a:pPr>
              <a:spcAft>
                <a:spcPts val="500"/>
              </a:spcAft>
              <a:defRPr sz="1200"/>
            </a:pPr>
            <a:r>
              <a:t>• New stores: 14 opened in 2022 (avg 10.6 months) lost $107k pro-rated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Q4 &amp; Q5: how to grow profit, and what needs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• Profit levers (2022 base; sizes assume no volume response unless stated)</a:t>
            </a:r>
          </a:p>
          <a:p>
            <a:pPr lvl="1">
              <a:spcAft>
                <a:spcPts val="500"/>
              </a:spcAft>
              <a:defRPr sz="1300"/>
            </a:pPr>
            <a:r>
              <a:t>– Furniture: restore list markup -&gt; up to $556k GM</a:t>
            </a:r>
          </a:p>
          <a:p>
            <a:pPr lvl="1">
              <a:spcAft>
                <a:spcPts val="500"/>
              </a:spcAft>
              <a:defRPr sz="1300"/>
            </a:pPr>
            <a:r>
              <a:t>– Base price list: +1% = ~$69k GM; a +5% test breaks even at a 17% volume loss. Run a controlled regional test before rolling out</a:t>
            </a:r>
          </a:p>
          <a:p>
            <a:pPr lvl="1">
              <a:spcAft>
                <a:spcPts val="500"/>
              </a:spcAft>
              <a:defRPr sz="1300"/>
            </a:pPr>
            <a:r>
              <a:t>– Pricing process: monthly price ÷ cost check per product; alert when markup moves (would have caught Furniture in Jan-2022)</a:t>
            </a:r>
          </a:p>
          <a:p>
            <a:pPr lvl="1">
              <a:spcAft>
                <a:spcPts val="500"/>
              </a:spcAft>
              <a:defRPr sz="1300"/>
            </a:pPr>
            <a:r>
              <a:t>– Store portfolio: review the long tail only after pricing; gate openings on a payback model</a:t>
            </a:r>
          </a:p>
          <a:p>
            <a:pPr>
              <a:spcAft>
                <a:spcPts val="500"/>
              </a:spcAft>
              <a:defRPr sz="1500"/>
            </a:pPr>
            <a:r>
              <a:t>• Investigate</a:t>
            </a:r>
          </a:p>
          <a:p>
            <a:pPr lvl="1">
              <a:spcAft>
                <a:spcPts val="500"/>
              </a:spcAft>
              <a:defRPr sz="1300"/>
            </a:pPr>
            <a:r>
              <a:t>– Who set Furniture prices in 2022, and is the landed cost right (AP/Ops)?</a:t>
            </a:r>
          </a:p>
          <a:p>
            <a:pPr lvl="1">
              <a:spcAft>
                <a:spcPts val="500"/>
              </a:spcAft>
              <a:defRPr sz="1300"/>
            </a:pPr>
            <a:r>
              <a:t>– 'Unknown' store / product 99901: 100 Manual lines in Jun-2022 ($13k), ingested before the sale date</a:t>
            </a:r>
          </a:p>
          <a:p>
            <a:pPr lvl="1">
              <a:spcAft>
                <a:spcPts val="500"/>
              </a:spcAft>
              <a:defRPr sz="1300"/>
            </a:pPr>
            <a:r>
              <a:t>– Returns appear only in the Manual source (4,907 lines; 0 elsewhere): are POS/ERP returns missing? Returns value +21.5% in 2022</a:t>
            </a:r>
          </a:p>
          <a:p>
            <a:pPr lvl="1">
              <a:spcAft>
                <a:spcPts val="500"/>
              </a:spcAft>
              <a:defRPr sz="1300"/>
            </a:pPr>
            <a:r>
              <a:t>– 9,815 transactions ingested twice across systems; cost values differ between copies</a:t>
            </a:r>
          </a:p>
          <a:p>
            <a:pPr lvl="1">
              <a:spcAft>
                <a:spcPts val="500"/>
              </a:spcAft>
              <a:defRPr sz="1300"/>
            </a:pPr>
            <a:r>
              <a:t>– Store master data: conflicting regions (MD), 10x opex restatement (store 50), duplicate store names (Wayne, 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