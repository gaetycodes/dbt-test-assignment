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2316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EC5F4"/>
                </a:solidFill>
                <a:latin typeface="Calibri"/>
              </a:rPr>
              <a:t>RETAIL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Profitable growth, 2019–2022:</a:t>
            </a:r>
          </a:p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where it came from and where it went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A dbt + DuckDB pipeline over a single denormalised extract — cleaned, normalised, and turned into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2514E"/>
                </a:solidFill>
                <a:latin typeface="Calibri"/>
              </a:rPr>
              <a:t>Net sales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0233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4281"/>
                </a:solidFill>
                <a:latin typeface="Calibri"/>
              </a:rPr>
              <a:t>$12.7M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6817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CA30C"/>
                </a:solidFill>
                <a:latin typeface="Calibri"/>
              </a:rPr>
              <a:t>+10.5%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5304" y="3566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2514E"/>
                </a:solidFill>
                <a:latin typeface="Calibri"/>
              </a:rPr>
              <a:t>Gross margin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0233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4281"/>
                </a:solidFill>
                <a:latin typeface="Calibri"/>
              </a:rPr>
              <a:t>37.3%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46817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−3.8 pts YoY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566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2514E"/>
                </a:solidFill>
                <a:latin typeface="Calibri"/>
              </a:rPr>
              <a:t>Gross profit 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0233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4281"/>
                </a:solidFill>
                <a:latin typeface="Calibri"/>
              </a:rPr>
              <a:t>$4.73M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46817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DA100"/>
                </a:solidFill>
                <a:latin typeface="Calibri"/>
              </a:rPr>
              <a:t>+0.4% YoY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9992" y="3566160"/>
            <a:ext cx="26060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3712463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2514E"/>
                </a:solidFill>
                <a:latin typeface="Calibri"/>
              </a:rPr>
              <a:t>Operating profit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0233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4281"/>
                </a:solidFill>
                <a:latin typeface="Calibri"/>
              </a:rPr>
              <a:t>$1.39M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6817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Calibri"/>
              </a:rPr>
              <a:t>−9.0% YoY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Bottom line: sales hit a record, but profit stalled. The cause is specific and fixable — and the single biggest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B0B0B"/>
                </a:solidFill>
                <a:latin typeface="Calibri"/>
              </a:rPr>
              <a:t>upside is pricing, not cost.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8984"/>
                </a:solidFill>
                <a:latin typeface="Calibri"/>
              </a:rPr>
              <a:t>Prepared for the CEO  ·  20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Record sales, stalled profit — and a clear way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1099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09728" cy="113385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36776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03B3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55064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Growth turned unprofitable in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574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Net sales rose +10.5% to $12.7M, but gross margin fell 3.8 pts (41.1%→37.3%). Gross profit was flat (+0.4%) and operating profit fell 9.0%.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1099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09728" cy="1133856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DA1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98648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One cause: a Furniture cost shock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00984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Furniture landed cost jumped +36% on 1 Jan 2022 with no price change. That alone cut gross profit by $490k — wiping out the +$509k every other category added.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95928"/>
            <a:ext cx="111099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95928"/>
            <a:ext cx="109728" cy="1133856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23944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CA30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4223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Biggest lever is pricing, not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4456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Non-West regions sell identical products (same cost) at 40–55% lower prices. Closing part of this gap is worth millions in margin at no volume risk.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39512"/>
            <a:ext cx="111099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109728" cy="11338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67528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A78D6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385816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Calibri"/>
              </a:rPr>
              <a:t>Profit is highly concentrated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78815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West is 60% of sales at ~2× the margin of every other region; the top 25 of 287 stores are half of revenue. The winning playbook is known — scale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PIPELINE ·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From one messy extract to decision-ready marts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7004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A89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670048" cy="384048"/>
          </a:xfrm>
          <a:prstGeom prst="rect">
            <a:avLst/>
          </a:prstGeom>
          <a:solidFill>
            <a:srgbClr val="8A8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55064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11226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raw.consolidated_transactions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77063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509,480 rows · 24 cols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wide, denormalised, contaminated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27832" y="2331720"/>
            <a:ext cx="146304" cy="274320"/>
          </a:xfrm>
          <a:prstGeom prst="rightArrow">
            <a:avLst/>
          </a:prstGeom>
          <a:solidFill>
            <a:srgbClr val="8A89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600200"/>
            <a:ext cx="267004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600200"/>
            <a:ext cx="2670048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655064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11226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stg_consolidated_transactions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77063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snake_case · cast types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non-destructive DQ flags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62472" y="2331720"/>
            <a:ext cx="146304" cy="27432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600200"/>
            <a:ext cx="267004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00200"/>
            <a:ext cx="2670048" cy="3840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655064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INTERMEDIATE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11226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int_transactions_cleaned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7063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dedup (latest ingest)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per-unit cost + economics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97112" y="2331720"/>
            <a:ext cx="146304" cy="274320"/>
          </a:xfrm>
          <a:prstGeom prst="rightArrow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52560" y="1600200"/>
            <a:ext cx="267004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600200"/>
            <a:ext cx="2670048" cy="3840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1655064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MARTS — 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2112264"/>
            <a:ext cx="23957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dim_product · dim_store · fct_sales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770632"/>
            <a:ext cx="2395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normalised star schema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tested keys + relationships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611880"/>
            <a:ext cx="3200400" cy="8686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712463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A78D6"/>
                </a:solidFill>
                <a:latin typeface="Calibri"/>
              </a:rPr>
              <a:t>SEED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9502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seed_state_region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canonical state → region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634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4281"/>
                </a:solidFill>
                <a:latin typeface="Calibri"/>
              </a:rPr>
              <a:t>CEO MARTS  (built only from the star schema)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8348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029200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sales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annual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76272" y="498348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21992" y="5029200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sales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monthly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03904" y="498348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9624" y="5029200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region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performance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31536" y="498348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77256" y="5029200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product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performance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59168" y="498348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5029200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store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performance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498348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5029200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growth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drivers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2022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14432" y="4983480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42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0152" y="5029200"/>
            <a:ext cx="1481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data</a:t>
            </a:r>
          </a:p>
          <a:p>
            <a:pPr algn="ctr">
              <a:lnSpc>
                <a:spcPct val="90000"/>
              </a:lnSpc>
            </a:pPr>
            <a:r>
              <a:rPr sz="950" b="1" i="0">
                <a:solidFill>
                  <a:srgbClr val="0B0B0B"/>
                </a:solidFill>
                <a:latin typeface="Calibri"/>
              </a:rPr>
              <a:t>quality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06440"/>
            <a:ext cx="11109960" cy="457200"/>
          </a:xfrm>
          <a:prstGeom prst="roundRect">
            <a:avLst/>
          </a:prstGeom>
          <a:solidFill>
            <a:srgbClr val="E8F5E8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88873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660A"/>
                </a:solidFill>
                <a:latin typeface="Calibri"/>
              </a:rPr>
              <a:t>✓  uv run dbt build  →  1 seed · 2 views · 8 tables · 34 tests   PASS=47  ERROR=0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3B3B"/>
                </a:solidFill>
                <a:latin typeface="Calibri"/>
              </a:rPr>
              <a:t>PIPELINE ·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Data contamination found — and how each was 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Detected by diffing the extract against reproducible logic; every issue is quantified in mart_data_quality (nothing dropped silently).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4206240" cy="397764"/>
          </a:xfrm>
          <a:prstGeom prst="rect">
            <a:avLst/>
          </a:prstGeom>
          <a:solidFill>
            <a:srgbClr val="104281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737360"/>
            <a:ext cx="1097280" cy="397764"/>
          </a:xfrm>
          <a:prstGeom prst="rect">
            <a:avLst/>
          </a:prstGeom>
          <a:solidFill>
            <a:srgbClr val="104281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737360"/>
            <a:ext cx="5806440" cy="397764"/>
          </a:xfrm>
          <a:prstGeom prst="rect">
            <a:avLst/>
          </a:prstGeom>
          <a:solidFill>
            <a:srgbClr val="104281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737360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1737360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How it was handled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35124"/>
            <a:ext cx="42062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135124"/>
            <a:ext cx="109728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2135124"/>
            <a:ext cx="58064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135124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Duplicate re-ingested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135124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9,815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135124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Keep latest ingested_at per transaction_id (sales-ops rule)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32888"/>
            <a:ext cx="42062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2532888"/>
            <a:ext cx="109728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2532888"/>
            <a:ext cx="58064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532888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Clone duplicates with fresh 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532888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1,308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2532888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Exact economic copies (only landed cost survived); detected &amp; excluded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30652"/>
            <a:ext cx="42062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2930652"/>
            <a:ext cx="109728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0" y="2930652"/>
            <a:ext cx="58064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930652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Per-pack vs per-unit cost mix-up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930652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75,274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2930652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Use landed_unit_cost (per-unit, = actual paid); unit/standard are per-PACK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328416"/>
            <a:ext cx="42062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3328416"/>
            <a:ext cx="109728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3328416"/>
            <a:ext cx="58064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328416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Product-name corruption (Vanities→Cosmetics)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3328416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11,498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3328416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Canonical name = modal product_name_catalog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26180"/>
            <a:ext cx="42062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80" y="3726180"/>
            <a:ext cx="109728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52160" y="3726180"/>
            <a:ext cx="58064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726180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Region mislabelled (MD→NE) / 'Unknown'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3726180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2,190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3726180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Derive region from state_code via canonical seed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123944"/>
            <a:ext cx="42062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54880" y="4123944"/>
            <a:ext cx="109728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0" y="4123944"/>
            <a:ext cx="58064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123944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Null product/store keys (orphans)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4123944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2,618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4123944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Excluded from fact; counted in DQ scorecard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521708"/>
            <a:ext cx="42062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54880" y="4521708"/>
            <a:ext cx="109728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52160" y="4521708"/>
            <a:ext cx="58064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4521708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Restated store with 10× inflated opex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8032" y="4521708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174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1888" y="4521708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Modal attribute per store removes the restated row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919472"/>
            <a:ext cx="42062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54880" y="4919472"/>
            <a:ext cx="109728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52160" y="4919472"/>
            <a:ext cx="58064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4919472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Sentinel '99901' garbage rows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28032" y="4919472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100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61888" y="4919472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Excluded (not a real product/store)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317236"/>
            <a:ext cx="42062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54880" y="5317236"/>
            <a:ext cx="109728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52160" y="5317236"/>
            <a:ext cx="5806440" cy="3977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5317236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Returns (negative quantity)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5317236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4,907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61888" y="5317236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Kept and netted → all figures are net of returns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5715000"/>
            <a:ext cx="42062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54880" y="5715000"/>
            <a:ext cx="109728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52160" y="5715000"/>
            <a:ext cx="5806440" cy="397764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5715000"/>
            <a:ext cx="40233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B0B0B"/>
                </a:solidFill>
                <a:latin typeface="Calibri"/>
              </a:rPr>
              <a:t>Unreliable product SCD dates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28032" y="5715000"/>
            <a:ext cx="950976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6,624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61888" y="5715000"/>
            <a:ext cx="5623560" cy="3977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2514E"/>
                </a:solidFill>
                <a:latin typeface="Calibri"/>
              </a:rPr>
              <a:t>Ignored for the fact (inconsistent with actual sales)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PIPELINE ·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Key modelling decisions (and what I rejected)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6811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91440" cy="14813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72768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Calibri"/>
              </a:rPr>
              <a:t>COST BASIS FOR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47088"/>
            <a:ext cx="5056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landed_unit_cost — the actual per-unit cost paid.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86000"/>
            <a:ext cx="5056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2514E"/>
                </a:solidFill>
                <a:latin typeface="Calibri"/>
              </a:rPr>
              <a:t>unit_cost / standard_unit_cost are per-PACK (= landed × pack_size). Using them raw understates margin by ~10 pts. Standard/pack_size kept for budget-margin sensitivity.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463040"/>
            <a:ext cx="546811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463040"/>
            <a:ext cx="91440" cy="14813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572768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AF7A"/>
                </a:solidFill>
                <a:latin typeface="Calibri"/>
              </a:rPr>
              <a:t>REGION 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847088"/>
            <a:ext cx="5056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Derive from state_code via a canonical US-Census seed.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86000"/>
            <a:ext cx="5056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2514E"/>
                </a:solidFill>
                <a:latin typeface="Calibri"/>
              </a:rPr>
              <a:t>region_name in the extract is corrupted (Maryland split ~50/50 to 'Northeast'; ~100 'Unknown'). Majority-vote fails on a 50/50 split, so a seed is more robust.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72384"/>
            <a:ext cx="546811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072384"/>
            <a:ext cx="91440" cy="148132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182112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4281"/>
                </a:solidFill>
                <a:latin typeface="Calibri"/>
              </a:rPr>
              <a:t>DUPLICATE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456432"/>
            <a:ext cx="5056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Keep the latest ingested_at per transaction_id.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895344"/>
            <a:ext cx="5056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2514E"/>
                </a:solidFill>
                <a:latin typeface="Calibri"/>
              </a:rPr>
              <a:t>9,815 re-ingested rows share identical economics. Lineage breaks the tie; Transaction Date stays the economic truth.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072384"/>
            <a:ext cx="546811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3072384"/>
            <a:ext cx="91440" cy="14813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182112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CA30C"/>
                </a:solidFill>
                <a:latin typeface="Calibri"/>
              </a:rPr>
              <a:t>RETURNS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456432"/>
            <a:ext cx="5056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Keep negative quantities; report net of returns.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895344"/>
            <a:ext cx="5056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2514E"/>
                </a:solidFill>
                <a:latin typeface="Calibri"/>
              </a:rPr>
              <a:t>Returns are real economic events (4,907 rows, valid prices). Gross-of-returns available as a sensitivity.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81728"/>
            <a:ext cx="546811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81728"/>
            <a:ext cx="91440" cy="148132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791456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STORE OPEX CADENCE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065776"/>
            <a:ext cx="5056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Treat direct_store_operating_costs as ANNUAL.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504688"/>
            <a:ext cx="5056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2514E"/>
                </a:solidFill>
                <a:latin typeface="Calibri"/>
              </a:rPr>
              <a:t>A monthly reading would be ~3.5× total revenue — economically impossible. Used only for an operating-profit lens.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681728"/>
            <a:ext cx="5468112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0488" y="4681728"/>
            <a:ext cx="91440" cy="14813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4791456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Calibri"/>
              </a:rPr>
              <a:t>GRAIN &amp; KEYS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5065776"/>
            <a:ext cx="50566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0B0B0B"/>
                </a:solidFill>
                <a:latin typeface="Calibri"/>
              </a:rPr>
              <a:t>fct_sales = one row per de-duplicated transaction.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5504688"/>
            <a:ext cx="5056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52514E"/>
                </a:solidFill>
                <a:latin typeface="Calibri"/>
              </a:rPr>
              <a:t>Unique, not-null transaction_id; relationship tests to dim_product &amp; dim_store. Star schema, not re-aggregated raw.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PIPELINE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De-duplication done properly — and the assumptions behind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The headline swing hinges on two things: catching every duplicate, and a few explicit accounting choices. Both are shown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4281"/>
                </a:solidFill>
                <a:latin typeface="Calibri"/>
              </a:rPr>
              <a:t>TWO KINDS OF DUPLICATE — ONE IS INVISIBLE TO id-DEDUP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5532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91440" cy="1170432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03704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0B0B"/>
                </a:solidFill>
                <a:latin typeface="Calibri"/>
              </a:rPr>
              <a:t>Re-ingestion — same transaction_id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203704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104281"/>
                </a:solidFill>
                <a:latin typeface="Calibri"/>
              </a:rPr>
              <a:t>9,815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78608"/>
            <a:ext cx="5166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19" b="0" i="0">
                <a:solidFill>
                  <a:srgbClr val="52514E"/>
                </a:solidFill>
                <a:latin typeface="Calibri"/>
              </a:rPr>
              <a:t>Same sale loaded twice on different ingested_at dates. Keep the latest ingest (−2.0% of raw sales).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5532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64992"/>
            <a:ext cx="91440" cy="117043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65576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0B0B"/>
                </a:solidFill>
                <a:latin typeface="Calibri"/>
              </a:rPr>
              <a:t>Clone copies — fresh transaction_ids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465576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D03B3B"/>
                </a:solidFill>
                <a:latin typeface="Calibri"/>
              </a:rPr>
              <a:t>1,308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40480"/>
            <a:ext cx="5166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19" b="0" i="0">
                <a:solidFill>
                  <a:srgbClr val="52514E"/>
                </a:solidFill>
                <a:latin typeface="Calibri"/>
              </a:rPr>
              <a:t>Exact economic copies appended above the organic id range. id-dedup can't see them; their tell is that only landed_unit_cost survived (per-pack costs NULL).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26864"/>
            <a:ext cx="5532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626864"/>
            <a:ext cx="91440" cy="1170432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727448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0B0B"/>
                </a:solidFill>
                <a:latin typeface="Calibri"/>
              </a:rPr>
              <a:t>Rejected — de-dup on the economic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4727448"/>
            <a:ext cx="1170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EDA100"/>
                </a:solidFill>
                <a:latin typeface="Calibri"/>
              </a:rPr>
              <a:t>241k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102352"/>
            <a:ext cx="5166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19" b="0" i="0">
                <a:solidFill>
                  <a:srgbClr val="52514E"/>
                </a:solidFill>
                <a:latin typeface="Calibri"/>
              </a:rPr>
              <a:t>Same product/store/month/qty/price repeats are legitimate (241k in the clean baseline). That rule would delete ~half of real sales.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4281"/>
                </a:solidFill>
                <a:latin typeface="Calibri"/>
              </a:rPr>
              <a:t>ACCOUNTING ASSUMPTIONS &amp; THEIR SENSITIVITY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103120"/>
            <a:ext cx="1417320" cy="548640"/>
          </a:xfrm>
          <a:prstGeom prst="rect">
            <a:avLst/>
          </a:prstGeom>
          <a:solidFill>
            <a:srgbClr val="104281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2103120"/>
            <a:ext cx="1600200" cy="548640"/>
          </a:xfrm>
          <a:prstGeom prst="rect">
            <a:avLst/>
          </a:prstGeom>
          <a:solidFill>
            <a:srgbClr val="104281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2103120"/>
            <a:ext cx="2286000" cy="548640"/>
          </a:xfrm>
          <a:prstGeom prst="rect">
            <a:avLst/>
          </a:prstGeom>
          <a:solidFill>
            <a:srgbClr val="104281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103120"/>
            <a:ext cx="12710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103120"/>
            <a:ext cx="1472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/>
              </a:rPr>
              <a:t>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103120"/>
            <a:ext cx="2139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0" i="0">
                <a:solidFill>
                  <a:srgbClr val="FFFFFF"/>
                </a:solidFill>
                <a:latin typeface="Calibri"/>
              </a:rPr>
              <a:t>If changed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651760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265176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72600" y="265176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651760"/>
            <a:ext cx="12710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0B0B"/>
                </a:solidFill>
                <a:latin typeface="Calibri"/>
              </a:rPr>
              <a:t>Cost basis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2651760"/>
            <a:ext cx="1472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0CA30C"/>
                </a:solidFill>
                <a:latin typeface="Calibri"/>
              </a:rPr>
              <a:t>landed (actual)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651760"/>
            <a:ext cx="2139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0" i="0">
                <a:solidFill>
                  <a:srgbClr val="52514E"/>
                </a:solidFill>
                <a:latin typeface="Calibri"/>
              </a:rPr>
              <a:t>standard ÷ pack ≈ same margin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200400"/>
            <a:ext cx="1417320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200400"/>
            <a:ext cx="1600200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3200400"/>
            <a:ext cx="2286000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200400"/>
            <a:ext cx="12710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0B0B"/>
                </a:solidFill>
                <a:latin typeface="Calibri"/>
              </a:rPr>
              <a:t>Returns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3200400"/>
            <a:ext cx="1472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0CA30C"/>
                </a:solidFill>
                <a:latin typeface="Calibri"/>
              </a:rPr>
              <a:t>net of returns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3200400"/>
            <a:ext cx="2139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0" i="0">
                <a:solidFill>
                  <a:srgbClr val="52514E"/>
                </a:solidFill>
                <a:latin typeface="Calibri"/>
              </a:rPr>
              <a:t>exclude → +~$0.13M/yr (gross)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749040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374904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72600" y="37490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749040"/>
            <a:ext cx="12710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0B0B"/>
                </a:solidFill>
                <a:latin typeface="Calibri"/>
              </a:rPr>
              <a:t>Store opex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5552" y="3749040"/>
            <a:ext cx="1472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0CA30C"/>
                </a:solidFill>
                <a:latin typeface="Calibri"/>
              </a:rPr>
              <a:t>annual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3749040"/>
            <a:ext cx="2139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0" i="0">
                <a:solidFill>
                  <a:srgbClr val="52514E"/>
                </a:solidFill>
                <a:latin typeface="Calibri"/>
              </a:rPr>
              <a:t>monthly = 3.5× revenue (impossible)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4297680"/>
            <a:ext cx="1417320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297680"/>
            <a:ext cx="1600200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72600" y="4297680"/>
            <a:ext cx="2286000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297680"/>
            <a:ext cx="12710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0B0B"/>
                </a:solidFill>
                <a:latin typeface="Calibri"/>
              </a:rPr>
              <a:t>Clone dupes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45552" y="4297680"/>
            <a:ext cx="1472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0CA30C"/>
                </a:solidFill>
                <a:latin typeface="Calibri"/>
              </a:rPr>
              <a:t>removed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4297680"/>
            <a:ext cx="2139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0" i="0">
                <a:solidFill>
                  <a:srgbClr val="52514E"/>
                </a:solidFill>
                <a:latin typeface="Calibri"/>
              </a:rPr>
              <a:t>keep → sales +0.25% overstated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846320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0" y="4846320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72600" y="48463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846320"/>
            <a:ext cx="12710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0B0B"/>
                </a:solidFill>
                <a:latin typeface="Calibri"/>
              </a:rPr>
              <a:t>Region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45552" y="4846320"/>
            <a:ext cx="1472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0CA30C"/>
                </a:solidFill>
                <a:latin typeface="Calibri"/>
              </a:rPr>
              <a:t>state_code seed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4040" y="4846320"/>
            <a:ext cx="2139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0" i="0">
                <a:solidFill>
                  <a:srgbClr val="52514E"/>
                </a:solidFill>
                <a:latin typeface="Calibri"/>
              </a:rPr>
              <a:t>trust raw region_name → MD wrong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5669280"/>
            <a:ext cx="11109960" cy="658368"/>
          </a:xfrm>
          <a:prstGeom prst="roundRect">
            <a:avLst/>
          </a:prstGeom>
          <a:solidFill>
            <a:srgbClr val="E8F5E8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7607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660A"/>
                </a:solidFill>
                <a:latin typeface="Calibri"/>
              </a:rPr>
              <a:t>✓  Validation: after cleaning, sales reconcile to the pre-contamination baseline to the dollar ($45.34M over 4 years) — confirming no duplicate was missed and no real sale was dropped.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INSIGHT · Q1 — ARE WE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Yes — steady double-digit top-line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_ne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669280" cy="3425021"/>
          </a:xfrm>
          <a:prstGeom prst="rect">
            <a:avLst/>
          </a:prstGeom>
        </p:spPr>
      </p:pic>
      <p:pic>
        <p:nvPicPr>
          <p:cNvPr id="8" name="Picture 7" descr="c11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37360"/>
            <a:ext cx="5852160" cy="25782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532120"/>
            <a:ext cx="11109960" cy="77724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1441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B0B0B"/>
                </a:solidFill>
                <a:latin typeface="Calibri"/>
              </a:rPr>
              <a:t>Net sales grew from $10.4M (2019) to $12.7M (2022): flat through COVID (2020), then +11.0% and +10.5%. December is the clear seasonal peak every year — plan inventory and staffing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INSIGHT · Q1 — MONTHLY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Steady underlying growth; a clean margin break in 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3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5806440" cy="2689428"/>
          </a:xfrm>
          <a:prstGeom prst="rect">
            <a:avLst/>
          </a:prstGeom>
        </p:spPr>
      </p:pic>
      <p:pic>
        <p:nvPicPr>
          <p:cNvPr id="8" name="Picture 7" descr="c14_monthly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81328"/>
            <a:ext cx="5806440" cy="26879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532120"/>
            <a:ext cx="11109960" cy="77724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1441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B0B0B"/>
                </a:solidFill>
                <a:latin typeface="Calibri"/>
              </a:rPr>
              <a:t>Stripping out seasonality, the 12-month average climbs steadily — annual net sales rose ~$0.75M/year on average ($10.4M→$12.7M) — real, broad-based demand growth. But monthly gross margin, stable at ~41% for three years, steps down abruptly in Jan 2022 and stays there — the Furniture cost shock, visible to the 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3B3B"/>
                </a:solidFill>
                <a:latin typeface="Calibri"/>
              </a:rPr>
              <a:t>INSIGHT · Q1 / Q4 — ARE WE GROWING PROFITABLY?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No — 2022 growth did not reach the bottom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2_yoy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760720" cy="3460418"/>
          </a:xfrm>
          <a:prstGeom prst="rect">
            <a:avLst/>
          </a:prstGeom>
        </p:spPr>
      </p:pic>
      <p:pic>
        <p:nvPicPr>
          <p:cNvPr id="8" name="Picture 7" descr="c3_marg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5577840" cy="33689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532120"/>
            <a:ext cx="11109960" cy="77724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1441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B0B0B"/>
                </a:solidFill>
                <a:latin typeface="Calibri"/>
              </a:rPr>
              <a:t>Net sales grew +10.5% but gross profit grew just +0.4% and operating profit fell 9.0%. The gap is entirely gross margin, down 3.8 pts to 37.3% — the business worked harder in 2022 for the same profit. Why? → next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DA100"/>
                </a:solidFill>
                <a:latin typeface="Calibri"/>
              </a:rPr>
              <a:t>INSIGHT · Q3 — WHAT DROVE (AND DRAINED) 2022?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A single Furniture cost shock erased the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4_gp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3477155"/>
          </a:xfrm>
          <a:prstGeom prst="rect">
            <a:avLst/>
          </a:prstGeom>
        </p:spPr>
      </p:pic>
      <p:pic>
        <p:nvPicPr>
          <p:cNvPr id="8" name="Picture 7" descr="c5_furniture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00200"/>
            <a:ext cx="4800600" cy="22616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9480" y="4617720"/>
            <a:ext cx="4800600" cy="169164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471830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DA100"/>
                </a:solidFill>
                <a:latin typeface="Calibri"/>
              </a:rPr>
              <a:t>THE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974336"/>
            <a:ext cx="4480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Furniture landed cost +36% on 1 Jan 2022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Selling price unchanged → margin 32%→7%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Furniture gross profit: −$490k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All other categories: +$509k combined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B0B0B"/>
                </a:solidFill>
                <a:latin typeface="Calibri"/>
              </a:rPr>
              <a:t>• Net effect: profit 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INSIGHT · Q2 — REGIONAL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The West carries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6_region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669280" cy="3484858"/>
          </a:xfrm>
          <a:prstGeom prst="rect">
            <a:avLst/>
          </a:prstGeom>
        </p:spPr>
      </p:pic>
      <p:pic>
        <p:nvPicPr>
          <p:cNvPr id="8" name="Picture 7" descr="c7_region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669280" cy="34800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532120"/>
            <a:ext cx="11109960" cy="77724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1441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B0B0B"/>
                </a:solidFill>
                <a:latin typeface="Calibri"/>
              </a:rPr>
              <a:t>West = 60% of sales AND ~47% margin (2× the rest). Northeast is smallest, shrinking (−8.8%) and least profitable (18%). Every region's margin fell in 2022 — the Furniture shock is nationwide.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INSIGHT · Q2 — REGIONAL × CATEGORY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Two problems in one view: a Western premium and a Furniture hole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5_region_ca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68" y="1536192"/>
            <a:ext cx="8690358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486400"/>
            <a:ext cx="11109960" cy="84124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577840"/>
            <a:ext cx="107899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0B0B0B"/>
                </a:solidFill>
                <a:latin typeface="Calibri"/>
              </a:rPr>
              <a:t>Read across each row: the West earns a premium in every single category on the same catalogue (Household 61% vs ~41% elsewhere). Read down the Furniture column: it is loss-making in the Midwest, South and Northeast — those regions were under-pricing furniture even before the 2022 cost shock pushed it below water.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A30C"/>
                </a:solidFill>
                <a:latin typeface="Calibri"/>
              </a:rPr>
              <a:t>INSIGHT · Q4 — THE BIGGEST PROFIT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Non-West regions under-price identical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8_pricin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93" y="1554480"/>
            <a:ext cx="7454707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349240"/>
            <a:ext cx="11109960" cy="960120"/>
          </a:xfrm>
          <a:prstGeom prst="roundRect">
            <a:avLst/>
          </a:prstGeom>
          <a:solidFill>
            <a:srgbClr val="E8F5E8"/>
          </a:solidFill>
          <a:ln w="1524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4982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A550A"/>
                </a:solidFill>
                <a:latin typeface="Calibri"/>
              </a:rPr>
              <a:t>Cost is identical across regions (it's a product attribute), so this is pure pricing. Candles cost $5.78 everywhere yet sell for $14 in the West vs $9 in the Northeast; Computers cost $856 yet range $1,458 → $1,000. Closing even part of this gap adds margin with no extra volume — the single largest, lowest-risk profit opportunity.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3B3B"/>
                </a:solidFill>
                <a:latin typeface="Calibri"/>
              </a:rPr>
              <a:t>INSIGHT · Q4 — PRICING THE PROBLEM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Furniture: the pricing gap turned a cost shock into losses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6_furniture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766560" cy="374185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554480"/>
            <a:ext cx="4709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66420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03B3B"/>
                </a:solidFill>
                <a:latin typeface="Calibri"/>
              </a:rPr>
              <a:t>FURNITURE GROSS PROFIT: 2021 →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116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0B0B"/>
                </a:solidFill>
                <a:latin typeface="Calibri"/>
              </a:rPr>
              <a:t>West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011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+$500k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0116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011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BAF7A"/>
                </a:solidFill>
                <a:latin typeface="Calibri"/>
              </a:rPr>
              <a:t>+$297k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4688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0B0B"/>
                </a:solidFill>
                <a:latin typeface="Calibri"/>
              </a:rPr>
              <a:t>Northeast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4688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+$44k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4688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468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D03B3B"/>
                </a:solidFill>
                <a:latin typeface="Calibri"/>
              </a:rPr>
              <a:t>−$53k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9260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0B0B"/>
                </a:solidFill>
                <a:latin typeface="Calibri"/>
              </a:rPr>
              <a:t>Midwest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926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+$62k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926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926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D03B3B"/>
                </a:solidFill>
                <a:latin typeface="Calibri"/>
              </a:rPr>
              <a:t>−$48k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3832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0B0B"/>
                </a:solidFill>
                <a:latin typeface="Calibri"/>
              </a:rPr>
              <a:t>South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3832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+$49k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3832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3832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D03B3B"/>
                </a:solidFill>
                <a:latin typeface="Calibri"/>
              </a:rPr>
              <a:t>−$31k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913632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2514E"/>
                </a:solidFill>
                <a:latin typeface="Calibri"/>
              </a:rPr>
              <a:t>All three non-West regions flipped to a loss; only the West stayed profitable.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06440"/>
            <a:ext cx="11109960" cy="548640"/>
          </a:xfrm>
          <a:prstGeom prst="roundRect">
            <a:avLst/>
          </a:prstGeom>
          <a:solidFill>
            <a:srgbClr val="FBEAEA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88736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03B3B"/>
                </a:solidFill>
                <a:latin typeface="Calibri"/>
              </a:rPr>
              <a:t>The West prices furniture at $119 (23% margin); everyone else sells it below cost. The fix is regional pricing, not just supplier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INSIGHT · Q2 — PRODUCTS &amp;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A few products and stores drive the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9_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852160" cy="3675441"/>
          </a:xfrm>
          <a:prstGeom prst="rect">
            <a:avLst/>
          </a:prstGeom>
        </p:spPr>
      </p:pic>
      <p:pic>
        <p:nvPicPr>
          <p:cNvPr id="8" name="Picture 7" descr="c10_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5577840" cy="31900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532120"/>
            <a:ext cx="11109960" cy="77724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1441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B0B0B"/>
                </a:solidFill>
                <a:latin typeface="Calibri"/>
              </a:rPr>
              <a:t>Computers, Dinnerware &amp; Cookware lead sales; highest-margin lines are Home Fragrances (75%), Vanities (66%) &amp; Cocktail Glasses (58%). The top 25 of 287 stores are ~half of revenue — Los Angeles alone is $3.8M at 58% margin.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0B0B"/>
                </a:solidFill>
                <a:latin typeface="Calibri"/>
              </a:rPr>
              <a:t>Four moves to restore profitable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11064240" cy="20320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1110996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109728" cy="1042415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03B3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0020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Fix Furniture economics —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84248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Reprice Furniture and/or renegotiate the supplier to reverse the +36% cost step. Restoring 2021 margins recovers ≈$490k of gross profit.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64208"/>
            <a:ext cx="2697480" cy="676656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17282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3B3B"/>
                </a:solidFill>
                <a:latin typeface="Calibri"/>
              </a:rPr>
              <a:t>≈ $0.5M GP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2029968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14E"/>
                </a:solidFill>
                <a:latin typeface="Calibri"/>
              </a:rPr>
              <a:t>Highest / fastest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33471"/>
            <a:ext cx="1110996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33471"/>
            <a:ext cx="109728" cy="1042415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52343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CA30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752343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Close the regional pricing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136391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Test raising non-West prices toward Western levels on identical SKUs. Even a partial convergence on Electronics &amp; Household adds margin with no volume added.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816351"/>
            <a:ext cx="2697480" cy="676656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880359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A30C"/>
                </a:solidFill>
                <a:latin typeface="Calibri"/>
              </a:rPr>
              <a:t>Multi-$M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3182111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14E"/>
                </a:solidFill>
                <a:latin typeface="Calibri"/>
              </a:rPr>
              <a:t>Highest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85614"/>
            <a:ext cx="1110996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85614"/>
            <a:ext cx="109728" cy="1042415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04486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904486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Scale the West playbook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288534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West delivers 2× margin on the same catalogue. Codify its pricing/assortment and extend to Midwest &amp; South; review the loss-making store tail.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968494"/>
            <a:ext cx="2697480" cy="676656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403250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Calibri"/>
              </a:rPr>
              <a:t>Structural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4334254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14E"/>
                </a:solidFill>
                <a:latin typeface="Calibri"/>
              </a:rPr>
              <a:t>Medium term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57"/>
            <a:ext cx="11109960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937757"/>
            <a:ext cx="109728" cy="1042415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056629"/>
            <a:ext cx="640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04281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056629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Institutionalise data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440677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2514E"/>
                </a:solidFill>
                <a:latin typeface="Calibri"/>
              </a:rPr>
              <a:t>Keep the dbt tests + mart_data_quality as a standing monitor so cost shocks, dupes and mis-mappings are caught automatically, not months later.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120637"/>
            <a:ext cx="2697480" cy="676656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42832" y="5184645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4281"/>
                </a:solidFill>
                <a:latin typeface="Calibri"/>
              </a:rPr>
              <a:t>Risk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5486397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2514E"/>
                </a:solidFill>
                <a:latin typeface="Calibri"/>
              </a:rPr>
              <a:t>Ongoing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72784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A8984"/>
                </a:solidFill>
                <a:latin typeface="Calibri"/>
              </a:rPr>
              <a:t>Assumptions: margin = landed cost; opex annual; figures net of returns. With more time: price-elasticity test design, fully-loaded store P&amp;L, and a Furniture supplier deep-dive.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Retail Performance Review  ·  dbt + DuckDB  ·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89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